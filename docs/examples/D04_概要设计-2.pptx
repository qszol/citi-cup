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9" r:id="rId1"/>
    <p:sldMasterId id="2147483714" r:id="rId2"/>
  </p:sldMasterIdLst>
  <p:notesMasterIdLst>
    <p:notesMasterId r:id="rId13"/>
  </p:notesMasterIdLst>
  <p:sldIdLst>
    <p:sldId id="11823956" r:id="rId3"/>
    <p:sldId id="11823965" r:id="rId4"/>
    <p:sldId id="11823967" r:id="rId5"/>
    <p:sldId id="11823968" r:id="rId6"/>
    <p:sldId id="11823970" r:id="rId7"/>
    <p:sldId id="11823973" r:id="rId8"/>
    <p:sldId id="11823969" r:id="rId9"/>
    <p:sldId id="11823975" r:id="rId10"/>
    <p:sldId id="11823974" r:id="rId11"/>
    <p:sldId id="1182396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F"/>
    <a:srgbClr val="6E20D2"/>
    <a:srgbClr val="16DBC8"/>
    <a:srgbClr val="E55E91"/>
    <a:srgbClr val="4540E2"/>
    <a:srgbClr val="AD9574"/>
    <a:srgbClr val="7575FF"/>
    <a:srgbClr val="30B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16"/>
    <p:restoredTop sz="94852"/>
  </p:normalViewPr>
  <p:slideViewPr>
    <p:cSldViewPr snapToGrid="0" snapToObjects="1">
      <p:cViewPr varScale="1">
        <p:scale>
          <a:sx n="63" d="100"/>
          <a:sy n="63" d="100"/>
        </p:scale>
        <p:origin x="9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3" d="100"/>
        <a:sy n="11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CE599-0E34-4745-A21F-76D152A22546}" type="datetimeFigureOut">
              <a:rPr kumimoji="1" lang="zh-CN" altLang="en-US" smtClean="0"/>
              <a:t>2025/8/26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451E5-CA43-B945-B789-6DB030CAA9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62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CCC8A7-D514-AA46-8B65-A679A7BA3D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33">
            <a:extLst>
              <a:ext uri="{FF2B5EF4-FFF2-40B4-BE49-F238E27FC236}">
                <a16:creationId xmlns:a16="http://schemas.microsoft.com/office/drawing/2014/main" id="{3F06908A-17DA-F44A-8199-80749CDEFE3F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2ED18F9F-3089-5E4A-95F2-06BCEF0AAB42}"/>
              </a:ext>
            </a:extLst>
          </p:cNvPr>
          <p:cNvSpPr/>
          <p:nvPr userDrawn="1"/>
        </p:nvSpPr>
        <p:spPr>
          <a:xfrm>
            <a:off x="586938" y="3021355"/>
            <a:ext cx="10419729" cy="18000"/>
          </a:xfrm>
          <a:prstGeom prst="rect">
            <a:avLst/>
          </a:prstGeom>
          <a:solidFill>
            <a:srgbClr val="C0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33E5F673-528B-F94A-9CD1-B2F6005095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7350" y="2007207"/>
            <a:ext cx="11239499" cy="8509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单击此处输入标题</a:t>
            </a:r>
          </a:p>
        </p:txBody>
      </p:sp>
      <p:sp>
        <p:nvSpPr>
          <p:cNvPr id="14" name="文本占位符 12">
            <a:extLst>
              <a:ext uri="{FF2B5EF4-FFF2-40B4-BE49-F238E27FC236}">
                <a16:creationId xmlns:a16="http://schemas.microsoft.com/office/drawing/2014/main" id="{983CFEAF-A968-0F46-AE51-A3BEE621C7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3182864"/>
            <a:ext cx="11239499" cy="58477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单击此处输入副标题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3861B9C5-EC80-6C46-8CE8-3968C9C8F644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69983B0-8D64-1B45-B741-DAE9CCC7E9E7}"/>
              </a:ext>
            </a:extLst>
          </p:cNvPr>
          <p:cNvGrpSpPr/>
          <p:nvPr userDrawn="1"/>
        </p:nvGrpSpPr>
        <p:grpSpPr>
          <a:xfrm>
            <a:off x="9341157" y="4654091"/>
            <a:ext cx="2209359" cy="663497"/>
            <a:chOff x="9554146" y="1349293"/>
            <a:chExt cx="2209359" cy="663497"/>
          </a:xfrm>
        </p:grpSpPr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54BD1ACD-2BFF-5B41-8F55-237A9BE46F4A}"/>
                </a:ext>
              </a:extLst>
            </p:cNvPr>
            <p:cNvSpPr/>
            <p:nvPr userDrawn="1"/>
          </p:nvSpPr>
          <p:spPr>
            <a:xfrm>
              <a:off x="9554146" y="1349293"/>
              <a:ext cx="2209359" cy="663497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BCFF0D6-6BC3-3A48-8283-728CA35C6970}"/>
                </a:ext>
              </a:extLst>
            </p:cNvPr>
            <p:cNvSpPr txBox="1"/>
            <p:nvPr userDrawn="1"/>
          </p:nvSpPr>
          <p:spPr>
            <a:xfrm>
              <a:off x="9645019" y="1466553"/>
              <a:ext cx="2004864" cy="182364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endPara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0D7D7E0-C7F0-D540-84CF-4FB3007520CD}"/>
                </a:ext>
              </a:extLst>
            </p:cNvPr>
            <p:cNvSpPr txBox="1"/>
            <p:nvPr userDrawn="1"/>
          </p:nvSpPr>
          <p:spPr>
            <a:xfrm>
              <a:off x="9645019" y="1718342"/>
              <a:ext cx="2004864" cy="172233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endPara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22DB2692-BBC7-3B47-81C0-63D1E0421E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61B7F-CDFF-EF19-C282-7DBD86D96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DFC061B9-28A2-A5A4-CC28-D8A59110F74D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7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430FA5-1DB4-174C-946D-984C77BA9CC5}"/>
              </a:ext>
            </a:extLst>
          </p:cNvPr>
          <p:cNvSpPr txBox="1"/>
          <p:nvPr userDrawn="1"/>
        </p:nvSpPr>
        <p:spPr>
          <a:xfrm>
            <a:off x="1893288" y="283852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661778-F466-0B4D-A682-0F5CC9491C3C}"/>
              </a:ext>
            </a:extLst>
          </p:cNvPr>
          <p:cNvSpPr txBox="1"/>
          <p:nvPr userDrawn="1"/>
        </p:nvSpPr>
        <p:spPr>
          <a:xfrm>
            <a:off x="0" y="3630677"/>
            <a:ext cx="33528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zh-CN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kumimoji="1" lang="zh-CN" altLang="en-US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86F851D1-0C7F-164A-B353-4BE478EA2745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8" name="灯片编号占位符 5">
            <a:extLst>
              <a:ext uri="{FF2B5EF4-FFF2-40B4-BE49-F238E27FC236}">
                <a16:creationId xmlns:a16="http://schemas.microsoft.com/office/drawing/2014/main" id="{FBEC8B8F-4C54-7242-A0CC-9DC1EE012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29" name="文本占位符 5">
            <a:extLst>
              <a:ext uri="{FF2B5EF4-FFF2-40B4-BE49-F238E27FC236}">
                <a16:creationId xmlns:a16="http://schemas.microsoft.com/office/drawing/2014/main" id="{D214DDAD-D567-E04F-B9C4-28B41A867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1532" y="1476878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0" name="文本占位符 5">
            <a:extLst>
              <a:ext uri="{FF2B5EF4-FFF2-40B4-BE49-F238E27FC236}">
                <a16:creationId xmlns:a16="http://schemas.microsoft.com/office/drawing/2014/main" id="{6B63FE8C-382C-F94F-9CDF-CDEC49B921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1532" y="2798791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1" name="文本占位符 5">
            <a:extLst>
              <a:ext uri="{FF2B5EF4-FFF2-40B4-BE49-F238E27FC236}">
                <a16:creationId xmlns:a16="http://schemas.microsoft.com/office/drawing/2014/main" id="{7A11F8A2-5D54-0B4F-AC78-72275FC96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1532" y="4120704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979126C5-4DFD-4F42-A2B1-60124D8A64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1532" y="5442616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3" name="文本占位符 5">
            <a:extLst>
              <a:ext uri="{FF2B5EF4-FFF2-40B4-BE49-F238E27FC236}">
                <a16:creationId xmlns:a16="http://schemas.microsoft.com/office/drawing/2014/main" id="{0CD39205-9F31-E248-9262-5EB8B0D8E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8102" y="1332655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en-US" altLang="zh-CN" dirty="0"/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0D540132-1151-1540-9068-F4102A799F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8102" y="2654568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5" name="文本占位符 5">
            <a:extLst>
              <a:ext uri="{FF2B5EF4-FFF2-40B4-BE49-F238E27FC236}">
                <a16:creationId xmlns:a16="http://schemas.microsoft.com/office/drawing/2014/main" id="{F746DB67-F02B-1549-8C1F-7376AB9E36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8102" y="3976481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6" name="文本占位符 5">
            <a:extLst>
              <a:ext uri="{FF2B5EF4-FFF2-40B4-BE49-F238E27FC236}">
                <a16:creationId xmlns:a16="http://schemas.microsoft.com/office/drawing/2014/main" id="{679C197B-A0B2-354E-9229-C658AA0470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8102" y="5298393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758A86-842B-5E4C-A25D-CC67EC8E8364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DA50E0A3-A562-9E4C-A4EA-3EAA32FBDA55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9285CF1-5C81-FA49-A7BE-C870DB014DEA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126DA9B-91EC-D64E-B611-600B0F1D1AC6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259341F7-7753-F04F-B81D-CDF5A093D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5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61B7F-CDFF-EF19-C282-7DBD86D96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DFC061B9-28A2-A5A4-CC28-D8A59110F74D}"/>
              </a:ext>
            </a:extLst>
          </p:cNvPr>
          <p:cNvSpPr/>
          <p:nvPr userDrawn="1"/>
        </p:nvSpPr>
        <p:spPr>
          <a:xfrm>
            <a:off x="0" y="0"/>
            <a:ext cx="12192000" cy="6885543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4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1D83FE-ECC6-6D41-855E-0A9FD570E242}"/>
              </a:ext>
            </a:extLst>
          </p:cNvPr>
          <p:cNvSpPr/>
          <p:nvPr userDrawn="1"/>
        </p:nvSpPr>
        <p:spPr>
          <a:xfrm>
            <a:off x="0" y="2044874"/>
            <a:ext cx="12192000" cy="2439444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CF3936-D481-6D43-9586-89B19B7809BA}"/>
              </a:ext>
            </a:extLst>
          </p:cNvPr>
          <p:cNvSpPr/>
          <p:nvPr userDrawn="1"/>
        </p:nvSpPr>
        <p:spPr>
          <a:xfrm>
            <a:off x="682170" y="3483026"/>
            <a:ext cx="2260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占位符 9">
            <a:extLst>
              <a:ext uri="{FF2B5EF4-FFF2-40B4-BE49-F238E27FC236}">
                <a16:creationId xmlns:a16="http://schemas.microsoft.com/office/drawing/2014/main" id="{5FA31264-A84A-5D42-9BA3-33B05B01E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65221" y="2851413"/>
            <a:ext cx="877549" cy="631613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0" name="文本占位符 9">
            <a:extLst>
              <a:ext uri="{FF2B5EF4-FFF2-40B4-BE49-F238E27FC236}">
                <a16:creationId xmlns:a16="http://schemas.microsoft.com/office/drawing/2014/main" id="{0B529DB6-9BC8-C74D-9E7C-1BC36A935C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13537" y="2851414"/>
            <a:ext cx="7922549" cy="64633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945137-A4A3-3944-BC9B-72615B9FFCD2}"/>
              </a:ext>
            </a:extLst>
          </p:cNvPr>
          <p:cNvSpPr txBox="1"/>
          <p:nvPr userDrawn="1"/>
        </p:nvSpPr>
        <p:spPr>
          <a:xfrm>
            <a:off x="682171" y="2851413"/>
            <a:ext cx="1405641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PART</a:t>
            </a:r>
            <a:endParaRPr kumimoji="1"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7E9F8B36-C4D2-3642-B4BE-0410D17B6B31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07F43B93-7CAD-F54E-B6AC-B42FDF7B4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FAA3649-8777-3F41-99A7-19351D0C9CBF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250CA164-2466-2449-BE56-2859CAF5302A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16C5D10-A203-BD4B-A4FD-215327DE86A4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AFFBB3B-BCDE-3E4B-9346-BB5AC38515D2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3F726DC4-0ABB-B446-AB46-D117F3035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151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4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3EDFBD2-2439-B746-996A-8EED9273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7E9C33-F2E0-A545-A1E6-2EBBF36D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350" y="385298"/>
            <a:ext cx="8748000" cy="557213"/>
          </a:xfrm>
          <a:prstGeom prst="rect">
            <a:avLst/>
          </a:prstGeom>
        </p:spPr>
        <p:txBody>
          <a:bodyPr lIns="0" rIns="0" anchor="ctr" anchorCtr="0"/>
          <a:lstStyle>
            <a:lvl1pPr>
              <a:lnSpc>
                <a:spcPct val="100000"/>
              </a:lnSpc>
              <a:defRPr sz="2600" b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88DCCC12-4893-8749-8A00-B2059D118B4F}"/>
              </a:ext>
            </a:extLst>
          </p:cNvPr>
          <p:cNvSpPr/>
          <p:nvPr userDrawn="1"/>
        </p:nvSpPr>
        <p:spPr>
          <a:xfrm>
            <a:off x="387350" y="6472702"/>
            <a:ext cx="4952472" cy="234753"/>
          </a:xfrm>
          <a:prstGeom prst="homePlate">
            <a:avLst/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5AE1C40F-7598-5FB2-BF9A-409AB23467CF}"/>
              </a:ext>
            </a:extLst>
          </p:cNvPr>
          <p:cNvSpPr/>
          <p:nvPr userDrawn="1"/>
        </p:nvSpPr>
        <p:spPr>
          <a:xfrm>
            <a:off x="234065" y="430576"/>
            <a:ext cx="51407" cy="46665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51C4C7-2120-804B-B7A2-866F3163492A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A60FB366-54FF-ED4B-A050-DDD5C6BCF51B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5321BD2-B66D-2D49-AE87-A66A6DEA11FD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9F97D89-66C6-C94E-9C04-DA3E081F7756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55CA7BD0-079F-2543-91E7-42B939999F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43278" y="463186"/>
            <a:ext cx="1784857" cy="36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7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C61B7F-CDFF-EF19-C282-7DBD86D96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33">
            <a:extLst>
              <a:ext uri="{FF2B5EF4-FFF2-40B4-BE49-F238E27FC236}">
                <a16:creationId xmlns:a16="http://schemas.microsoft.com/office/drawing/2014/main" id="{DFC061B9-28A2-A5A4-CC28-D8A59110F74D}"/>
              </a:ext>
            </a:extLst>
          </p:cNvPr>
          <p:cNvSpPr/>
          <p:nvPr userDrawn="1"/>
        </p:nvSpPr>
        <p:spPr>
          <a:xfrm>
            <a:off x="0" y="0"/>
            <a:ext cx="12192000" cy="6885543"/>
          </a:xfrm>
          <a:prstGeom prst="rect">
            <a:avLst/>
          </a:prstGeom>
          <a:gradFill flip="none" rotWithShape="1">
            <a:gsLst>
              <a:gs pos="37000">
                <a:srgbClr val="F3F6FF">
                  <a:alpha val="92000"/>
                </a:srgbClr>
              </a:gs>
              <a:gs pos="84000">
                <a:srgbClr val="F3F6FF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81D7760-F46F-D74D-471F-DC987CD2C0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2894947" y="2635526"/>
            <a:ext cx="1586948" cy="1586948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87481D-ABF8-D05A-EB6F-8650BD75795E}"/>
              </a:ext>
            </a:extLst>
          </p:cNvPr>
          <p:cNvGrpSpPr/>
          <p:nvPr userDrawn="1"/>
        </p:nvGrpSpPr>
        <p:grpSpPr>
          <a:xfrm>
            <a:off x="4589568" y="2810947"/>
            <a:ext cx="4707486" cy="1236106"/>
            <a:chOff x="4589568" y="3637204"/>
            <a:chExt cx="4707486" cy="123610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887F33C-753D-0BAF-2DCF-A90466E26528}"/>
                </a:ext>
              </a:extLst>
            </p:cNvPr>
            <p:cNvSpPr txBox="1"/>
            <p:nvPr/>
          </p:nvSpPr>
          <p:spPr>
            <a:xfrm>
              <a:off x="4589569" y="4124452"/>
              <a:ext cx="41531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北京市海淀区西北旺东路</a:t>
              </a:r>
              <a:r>
                <a:rPr kumimoji="1" lang="en-US" altLang="zh-CN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10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号院东区</a:t>
              </a:r>
              <a:r>
                <a:rPr kumimoji="1" lang="en-US" altLang="zh-CN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16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号楼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A023887-3071-9BF4-1A51-E6837E31F07B}"/>
                </a:ext>
              </a:extLst>
            </p:cNvPr>
            <p:cNvSpPr txBox="1"/>
            <p:nvPr/>
          </p:nvSpPr>
          <p:spPr>
            <a:xfrm>
              <a:off x="4595738" y="3637204"/>
              <a:ext cx="470131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软通动力信息技术</a:t>
              </a:r>
              <a:r>
                <a:rPr kumimoji="1" lang="en-US" altLang="zh-CN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</a:t>
              </a:r>
              <a:r>
                <a:rPr kumimoji="1" lang="zh-CN" altLang="en-US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集团</a:t>
              </a:r>
              <a:r>
                <a:rPr kumimoji="1" lang="en-US" altLang="zh-CN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)</a:t>
              </a:r>
              <a:r>
                <a:rPr kumimoji="1" lang="zh-CN" altLang="en-US" sz="21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股份有限公司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8D663D3-4DB6-7BEE-1141-A790243A9513}"/>
                </a:ext>
              </a:extLst>
            </p:cNvPr>
            <p:cNvSpPr txBox="1"/>
            <p:nvPr/>
          </p:nvSpPr>
          <p:spPr>
            <a:xfrm>
              <a:off x="4589568" y="4534756"/>
              <a:ext cx="2153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sz="1600" dirty="0" err="1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www.isoftstone.com</a:t>
              </a:r>
              <a:endPara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775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B339971-7678-A648-9F41-C6F7510DD9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1" y="-13252"/>
            <a:ext cx="12191999" cy="6871252"/>
          </a:xfrm>
          <a:prstGeom prst="rect">
            <a:avLst/>
          </a:prstGeom>
        </p:spPr>
      </p:pic>
      <p:sp>
        <p:nvSpPr>
          <p:cNvPr id="6" name="Rectangle 33">
            <a:extLst>
              <a:ext uri="{FF2B5EF4-FFF2-40B4-BE49-F238E27FC236}">
                <a16:creationId xmlns:a16="http://schemas.microsoft.com/office/drawing/2014/main" id="{3F06908A-17DA-F44A-8199-80749CDEFE3F}"/>
              </a:ext>
            </a:extLst>
          </p:cNvPr>
          <p:cNvSpPr/>
          <p:nvPr userDrawn="1"/>
        </p:nvSpPr>
        <p:spPr>
          <a:xfrm>
            <a:off x="0" y="-13252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32000"/>
                </a:schemeClr>
              </a:gs>
              <a:gs pos="82000">
                <a:schemeClr val="tx1"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占位符 12">
            <a:extLst>
              <a:ext uri="{FF2B5EF4-FFF2-40B4-BE49-F238E27FC236}">
                <a16:creationId xmlns:a16="http://schemas.microsoft.com/office/drawing/2014/main" id="{AD08E04F-1B6C-0448-A85E-AD0B3F424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7350" y="2007207"/>
            <a:ext cx="11239499" cy="8509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单击此处输入标题</a:t>
            </a:r>
          </a:p>
        </p:txBody>
      </p:sp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C7AE527D-37AD-2B4C-9E7C-EC918765D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3182864"/>
            <a:ext cx="11239499" cy="5847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5600"/>
            </a:lvl2pPr>
            <a:lvl3pPr>
              <a:defRPr sz="5600"/>
            </a:lvl3pPr>
            <a:lvl4pPr>
              <a:defRPr sz="5600"/>
            </a:lvl4pPr>
            <a:lvl5pPr>
              <a:defRPr sz="5600"/>
            </a:lvl5pPr>
          </a:lstStyle>
          <a:p>
            <a:pPr lvl="0"/>
            <a:r>
              <a:rPr kumimoji="1" lang="zh-CN" altLang="en-US" dirty="0"/>
              <a:t>单击此处输入副标题</a:t>
            </a: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46D3B167-A1CF-B349-A94B-55330ACFFE65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80C61D9-594E-B440-97CD-3C7FEC22B50F}"/>
              </a:ext>
            </a:extLst>
          </p:cNvPr>
          <p:cNvGrpSpPr/>
          <p:nvPr userDrawn="1"/>
        </p:nvGrpSpPr>
        <p:grpSpPr>
          <a:xfrm>
            <a:off x="9341157" y="4654091"/>
            <a:ext cx="2209359" cy="663497"/>
            <a:chOff x="9554146" y="1349293"/>
            <a:chExt cx="2209359" cy="663497"/>
          </a:xfrm>
        </p:grpSpPr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55F4E281-F5CA-4946-96CD-BD9CE954C029}"/>
                </a:ext>
              </a:extLst>
            </p:cNvPr>
            <p:cNvSpPr/>
            <p:nvPr userDrawn="1"/>
          </p:nvSpPr>
          <p:spPr>
            <a:xfrm>
              <a:off x="9554146" y="1349293"/>
              <a:ext cx="2209359" cy="663497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9118C3D-CB1C-DB47-B58D-9F886C198575}"/>
                </a:ext>
              </a:extLst>
            </p:cNvPr>
            <p:cNvSpPr txBox="1"/>
            <p:nvPr userDrawn="1"/>
          </p:nvSpPr>
          <p:spPr>
            <a:xfrm>
              <a:off x="9645019" y="1466553"/>
              <a:ext cx="2004864" cy="182364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endPara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ACF226F-2748-0846-BF62-92E779DE2733}"/>
                </a:ext>
              </a:extLst>
            </p:cNvPr>
            <p:cNvSpPr txBox="1"/>
            <p:nvPr userDrawn="1"/>
          </p:nvSpPr>
          <p:spPr>
            <a:xfrm>
              <a:off x="9645019" y="1718342"/>
              <a:ext cx="2004864" cy="172233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endParaRPr kumimoji="1" lang="en-US" altLang="zh-CN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A1D326FE-6ACE-004E-BB0A-BF5CCAE38E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4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FFA867-9669-294A-9BB0-1873E733B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33">
            <a:extLst>
              <a:ext uri="{FF2B5EF4-FFF2-40B4-BE49-F238E27FC236}">
                <a16:creationId xmlns:a16="http://schemas.microsoft.com/office/drawing/2014/main" id="{6CA2CA27-6530-3440-99A1-3B265C4C8B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92000"/>
                </a:schemeClr>
              </a:gs>
              <a:gs pos="82000">
                <a:schemeClr val="tx1">
                  <a:alpha val="49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113AB9-F7A4-8E4B-88D7-8D0AB28EE9BD}"/>
              </a:ext>
            </a:extLst>
          </p:cNvPr>
          <p:cNvSpPr txBox="1"/>
          <p:nvPr userDrawn="1"/>
        </p:nvSpPr>
        <p:spPr>
          <a:xfrm>
            <a:off x="1893288" y="283852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6B2535-B6E7-A443-B1FF-76F02348C2E2}"/>
              </a:ext>
            </a:extLst>
          </p:cNvPr>
          <p:cNvSpPr txBox="1"/>
          <p:nvPr userDrawn="1"/>
        </p:nvSpPr>
        <p:spPr>
          <a:xfrm>
            <a:off x="0" y="3630677"/>
            <a:ext cx="337537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zh-CN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kumimoji="1" lang="zh-CN" altLang="en-US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占位符 5">
            <a:extLst>
              <a:ext uri="{FF2B5EF4-FFF2-40B4-BE49-F238E27FC236}">
                <a16:creationId xmlns:a16="http://schemas.microsoft.com/office/drawing/2014/main" id="{C818A131-0730-ED40-81F6-A8C99ABB4D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1532" y="1476878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9" name="文本占位符 5">
            <a:extLst>
              <a:ext uri="{FF2B5EF4-FFF2-40B4-BE49-F238E27FC236}">
                <a16:creationId xmlns:a16="http://schemas.microsoft.com/office/drawing/2014/main" id="{D79D9DC8-6B94-7440-BB6F-DBC83C4BE5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1532" y="2798791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0" name="文本占位符 5">
            <a:extLst>
              <a:ext uri="{FF2B5EF4-FFF2-40B4-BE49-F238E27FC236}">
                <a16:creationId xmlns:a16="http://schemas.microsoft.com/office/drawing/2014/main" id="{A37CD68C-FF95-4F4D-BA51-39C9C64CC5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1532" y="4120704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1" name="文本占位符 5">
            <a:extLst>
              <a:ext uri="{FF2B5EF4-FFF2-40B4-BE49-F238E27FC236}">
                <a16:creationId xmlns:a16="http://schemas.microsoft.com/office/drawing/2014/main" id="{E18A9A3A-FEC1-0948-A661-59F4869D92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1532" y="5442616"/>
            <a:ext cx="1047403" cy="663531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342900" indent="-342900" algn="l">
              <a:lnSpc>
                <a:spcPct val="100000"/>
              </a:lnSpc>
              <a:buClr>
                <a:srgbClr val="C00000"/>
              </a:buClr>
              <a:buSzPct val="85000"/>
              <a:buFont typeface="Hiragino Sans W6" panose="020B0400000000000000" pitchFamily="34" charset="-128"/>
              <a:buChar char="◼"/>
              <a:defRPr sz="2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071E95E1-7359-B247-A6D8-5F21BDEFB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8102" y="1332655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  <a:endParaRPr kumimoji="1" lang="en-US" altLang="zh-CN" dirty="0"/>
          </a:p>
        </p:txBody>
      </p:sp>
      <p:sp>
        <p:nvSpPr>
          <p:cNvPr id="33" name="文本占位符 5">
            <a:extLst>
              <a:ext uri="{FF2B5EF4-FFF2-40B4-BE49-F238E27FC236}">
                <a16:creationId xmlns:a16="http://schemas.microsoft.com/office/drawing/2014/main" id="{A246854F-5083-6A4B-9208-84A629600B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8102" y="2654568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EC34C017-95BF-9949-8DB2-C2E37BA04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8102" y="3976481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5" name="文本占位符 5">
            <a:extLst>
              <a:ext uri="{FF2B5EF4-FFF2-40B4-BE49-F238E27FC236}">
                <a16:creationId xmlns:a16="http://schemas.microsoft.com/office/drawing/2014/main" id="{CE7F4CD9-F6A4-5140-A95E-86217B7E30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8102" y="5298393"/>
            <a:ext cx="5837432" cy="914399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>
              <a:lnSpc>
                <a:spcPct val="100000"/>
              </a:lnSpc>
              <a:defRPr sz="2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点击输入标题</a:t>
            </a:r>
          </a:p>
        </p:txBody>
      </p:sp>
      <p:sp>
        <p:nvSpPr>
          <p:cNvPr id="37" name="Rectangle 16">
            <a:extLst>
              <a:ext uri="{FF2B5EF4-FFF2-40B4-BE49-F238E27FC236}">
                <a16:creationId xmlns:a16="http://schemas.microsoft.com/office/drawing/2014/main" id="{52B71744-29F7-9146-886E-2DCDEECFE00B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3A143707-1D5F-B041-ADC4-344295FEA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20B4873-7E30-104C-B49D-0203C0E81B93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22" name="圆角矩形 21">
              <a:extLst>
                <a:ext uri="{FF2B5EF4-FFF2-40B4-BE49-F238E27FC236}">
                  <a16:creationId xmlns:a16="http://schemas.microsoft.com/office/drawing/2014/main" id="{50EF2405-03CD-0249-8659-6856EA330336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8CC7BC9-3F9F-5D46-BF63-228757221CFE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73D51D8-C9E0-6747-9165-6CE4F4430B37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5815F91B-5BDD-764C-A659-C701C5CA36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FFA867-9669-294A-9BB0-1873E733B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33">
            <a:extLst>
              <a:ext uri="{FF2B5EF4-FFF2-40B4-BE49-F238E27FC236}">
                <a16:creationId xmlns:a16="http://schemas.microsoft.com/office/drawing/2014/main" id="{D56A8B21-A134-8E4C-9A36-E5908A47D2C5}"/>
              </a:ext>
            </a:extLst>
          </p:cNvPr>
          <p:cNvSpPr/>
          <p:nvPr userDrawn="1"/>
        </p:nvSpPr>
        <p:spPr>
          <a:xfrm>
            <a:off x="0" y="-13252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32000"/>
                </a:schemeClr>
              </a:gs>
              <a:gs pos="82000">
                <a:schemeClr val="tx1"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30CEAA-83B2-F24F-878E-A4ACCD7F49F3}"/>
              </a:ext>
            </a:extLst>
          </p:cNvPr>
          <p:cNvSpPr/>
          <p:nvPr userDrawn="1"/>
        </p:nvSpPr>
        <p:spPr>
          <a:xfrm>
            <a:off x="0" y="2044874"/>
            <a:ext cx="12192000" cy="2439444"/>
          </a:xfrm>
          <a:prstGeom prst="rect">
            <a:avLst/>
          </a:prstGeom>
          <a:solidFill>
            <a:schemeClr val="tx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5F4E0B-6B3F-4F4B-BE26-2F679B8B775F}"/>
              </a:ext>
            </a:extLst>
          </p:cNvPr>
          <p:cNvSpPr/>
          <p:nvPr userDrawn="1"/>
        </p:nvSpPr>
        <p:spPr>
          <a:xfrm>
            <a:off x="682170" y="3483026"/>
            <a:ext cx="2260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占位符 9">
            <a:extLst>
              <a:ext uri="{FF2B5EF4-FFF2-40B4-BE49-F238E27FC236}">
                <a16:creationId xmlns:a16="http://schemas.microsoft.com/office/drawing/2014/main" id="{08847468-46B3-494E-9D6F-A47B4960D4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65221" y="2851413"/>
            <a:ext cx="877549" cy="631613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7" name="文本占位符 9">
            <a:extLst>
              <a:ext uri="{FF2B5EF4-FFF2-40B4-BE49-F238E27FC236}">
                <a16:creationId xmlns:a16="http://schemas.microsoft.com/office/drawing/2014/main" id="{63A3586F-AD51-C04A-AB46-6A8815D93D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13537" y="2851414"/>
            <a:ext cx="7922549" cy="64633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9ADEDE-753A-1D48-BF2E-63B918AB52C4}"/>
              </a:ext>
            </a:extLst>
          </p:cNvPr>
          <p:cNvSpPr txBox="1"/>
          <p:nvPr userDrawn="1"/>
        </p:nvSpPr>
        <p:spPr>
          <a:xfrm>
            <a:off x="682171" y="2851413"/>
            <a:ext cx="1405641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PART</a:t>
            </a:r>
            <a:endParaRPr kumimoji="1" lang="zh-CN" altLang="en-US" sz="3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EB99C728-D900-DF4E-9EA2-248E9C6009FC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00289511-24C2-3F4F-892B-2AE93054C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3CACF2-EAC9-374D-B31A-56F07E58C027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9A3C90FC-6ECB-B942-8C71-3EE27490F530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5CD1887-62AA-9644-B27D-3FB6452C5086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467D5CE-0135-7F4E-8A48-985CAA3DB946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68607A7F-67F9-D546-ACA2-FC61213435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6938" y="475553"/>
            <a:ext cx="1870220" cy="3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0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rgbClr val="002060">
                <a:alpha val="86000"/>
              </a:srgbClr>
            </a:gs>
            <a:gs pos="98000">
              <a:srgbClr val="00206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08DA6D6-ED45-514E-A3E3-7ADC78C6D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3" y="-13252"/>
            <a:ext cx="12192001" cy="6871252"/>
          </a:xfrm>
          <a:prstGeom prst="rect">
            <a:avLst/>
          </a:prstGeom>
        </p:spPr>
      </p:pic>
      <p:sp>
        <p:nvSpPr>
          <p:cNvPr id="11" name="Rectangle 33">
            <a:extLst>
              <a:ext uri="{FF2B5EF4-FFF2-40B4-BE49-F238E27FC236}">
                <a16:creationId xmlns:a16="http://schemas.microsoft.com/office/drawing/2014/main" id="{98662FE9-3C2E-CB4D-A9DA-361BB2628D41}"/>
              </a:ext>
            </a:extLst>
          </p:cNvPr>
          <p:cNvSpPr/>
          <p:nvPr userDrawn="1"/>
        </p:nvSpPr>
        <p:spPr>
          <a:xfrm>
            <a:off x="-3" y="-13252"/>
            <a:ext cx="12192000" cy="6871252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95000"/>
                </a:schemeClr>
              </a:gs>
              <a:gs pos="82000">
                <a:schemeClr val="tx1">
                  <a:alpha val="47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3EDFBD2-2439-B746-996A-8EED9273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5633" y="6380680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7E9C33-F2E0-A545-A1E6-2EBBF36D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350" y="385298"/>
            <a:ext cx="8748000" cy="557213"/>
          </a:xfrm>
          <a:prstGeom prst="rect">
            <a:avLst/>
          </a:prstGeom>
        </p:spPr>
        <p:txBody>
          <a:bodyPr lIns="0" rIns="0" anchor="ctr" anchorCtr="0"/>
          <a:lstStyle>
            <a:lvl1pPr>
              <a:lnSpc>
                <a:spcPct val="100000"/>
              </a:lnSpc>
              <a:defRPr sz="2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508160B8-408C-564D-BCFE-76741C9FAF58}"/>
              </a:ext>
            </a:extLst>
          </p:cNvPr>
          <p:cNvSpPr/>
          <p:nvPr userDrawn="1"/>
        </p:nvSpPr>
        <p:spPr>
          <a:xfrm>
            <a:off x="387350" y="6475003"/>
            <a:ext cx="4952472" cy="234753"/>
          </a:xfrm>
          <a:prstGeom prst="homePlat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kumimoji="1"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©2025</a:t>
            </a:r>
            <a:r>
              <a:rPr kumimoji="1"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CAC2A401-061E-AD78-5618-8B2C0E61734F}"/>
              </a:ext>
            </a:extLst>
          </p:cNvPr>
          <p:cNvSpPr/>
          <p:nvPr userDrawn="1"/>
        </p:nvSpPr>
        <p:spPr>
          <a:xfrm>
            <a:off x="234065" y="430576"/>
            <a:ext cx="51407" cy="46665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2C90570-83B2-0140-9755-1534501DF589}"/>
              </a:ext>
            </a:extLst>
          </p:cNvPr>
          <p:cNvGrpSpPr/>
          <p:nvPr userDrawn="1"/>
        </p:nvGrpSpPr>
        <p:grpSpPr>
          <a:xfrm>
            <a:off x="9378001" y="42224"/>
            <a:ext cx="2579935" cy="403132"/>
            <a:chOff x="9034086" y="842856"/>
            <a:chExt cx="2777779" cy="403132"/>
          </a:xfrm>
        </p:grpSpPr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D947C160-4D4E-4E47-BE63-5E2B021CB42B}"/>
                </a:ext>
              </a:extLst>
            </p:cNvPr>
            <p:cNvSpPr/>
            <p:nvPr userDrawn="1"/>
          </p:nvSpPr>
          <p:spPr>
            <a:xfrm>
              <a:off x="9034086" y="842856"/>
              <a:ext cx="2777779" cy="388352"/>
            </a:xfrm>
            <a:prstGeom prst="roundRect">
              <a:avLst>
                <a:gd name="adj" fmla="val 12063"/>
              </a:avLst>
            </a:prstGeom>
            <a:noFill/>
            <a:ln w="19050">
              <a:solidFill>
                <a:srgbClr val="D505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050" dirty="0">
                <a:solidFill>
                  <a:srgbClr val="D505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0161010-5D84-254E-8421-30EFF1D56E7C}"/>
                </a:ext>
              </a:extLst>
            </p:cNvPr>
            <p:cNvSpPr txBox="1"/>
            <p:nvPr userDrawn="1"/>
          </p:nvSpPr>
          <p:spPr>
            <a:xfrm>
              <a:off x="9100034" y="86976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400" b="1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保密级别：</a:t>
              </a:r>
              <a:r>
                <a:rPr kumimoji="1" lang="zh-CN" altLang="en-US" sz="14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4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1233BBA-0561-C84D-B9F7-D00437BD2C25}"/>
                </a:ext>
              </a:extLst>
            </p:cNvPr>
            <p:cNvSpPr txBox="1"/>
            <p:nvPr userDrawn="1"/>
          </p:nvSpPr>
          <p:spPr>
            <a:xfrm>
              <a:off x="9100034" y="1059213"/>
              <a:ext cx="2633932" cy="186775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kumimoji="1" lang="zh-CN" altLang="en-US" sz="1000" dirty="0">
                  <a:solidFill>
                    <a:srgbClr val="D5050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信息所有者：</a:t>
              </a:r>
              <a:r>
                <a:rPr kumimoji="1" lang="zh-CN" altLang="en-US" sz="1000" b="1" dirty="0">
                  <a:solidFill>
                    <a:schemeClr val="bg1">
                      <a:lumMod val="6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必填项</a:t>
              </a:r>
              <a:endParaRPr kumimoji="1" lang="en-US" altLang="zh-CN" sz="10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A6035861-2103-7147-AEAB-4461F9BC56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90638" y="422967"/>
            <a:ext cx="1844500" cy="38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FFFA867-9669-294A-9BB0-1873E733B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33">
            <a:extLst>
              <a:ext uri="{FF2B5EF4-FFF2-40B4-BE49-F238E27FC236}">
                <a16:creationId xmlns:a16="http://schemas.microsoft.com/office/drawing/2014/main" id="{6CA2CA27-6530-3440-99A1-3B265C4C8B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alpha val="51000"/>
                </a:schemeClr>
              </a:gs>
              <a:gs pos="82000">
                <a:schemeClr val="tx1">
                  <a:alpha val="26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81D7760-F46F-D74D-471F-DC987CD2C0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2894947" y="2635526"/>
            <a:ext cx="1586948" cy="1586948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87481D-ABF8-D05A-EB6F-8650BD75795E}"/>
              </a:ext>
            </a:extLst>
          </p:cNvPr>
          <p:cNvGrpSpPr/>
          <p:nvPr userDrawn="1"/>
        </p:nvGrpSpPr>
        <p:grpSpPr>
          <a:xfrm>
            <a:off x="4589568" y="2810947"/>
            <a:ext cx="4707486" cy="1236106"/>
            <a:chOff x="4589568" y="3637204"/>
            <a:chExt cx="4707486" cy="123610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887F33C-753D-0BAF-2DCF-A90466E26528}"/>
                </a:ext>
              </a:extLst>
            </p:cNvPr>
            <p:cNvSpPr txBox="1"/>
            <p:nvPr/>
          </p:nvSpPr>
          <p:spPr>
            <a:xfrm>
              <a:off x="4589569" y="4124452"/>
              <a:ext cx="41531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北京市海淀区西北旺东路</a:t>
              </a:r>
              <a:r>
                <a:rPr kumimoji="1"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10</a:t>
              </a:r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号院东区</a:t>
              </a:r>
              <a:r>
                <a:rPr kumimoji="1"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16</a:t>
              </a:r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号楼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A023887-3071-9BF4-1A51-E6837E31F07B}"/>
                </a:ext>
              </a:extLst>
            </p:cNvPr>
            <p:cNvSpPr txBox="1"/>
            <p:nvPr/>
          </p:nvSpPr>
          <p:spPr>
            <a:xfrm>
              <a:off x="4595738" y="3637204"/>
              <a:ext cx="470131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软通动力信息技术</a:t>
              </a:r>
              <a:r>
                <a:rPr kumimoji="1" lang="en-US" altLang="zh-CN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</a:t>
              </a:r>
              <a:r>
                <a:rPr kumimoji="1" lang="zh-CN" altLang="en-US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集团</a:t>
              </a:r>
              <a:r>
                <a:rPr kumimoji="1" lang="en-US" altLang="zh-CN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)</a:t>
              </a:r>
              <a:r>
                <a:rPr kumimoji="1" lang="zh-CN" altLang="en-US" sz="2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股份有限公司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8D663D3-4DB6-7BEE-1141-A790243A9513}"/>
                </a:ext>
              </a:extLst>
            </p:cNvPr>
            <p:cNvSpPr txBox="1"/>
            <p:nvPr/>
          </p:nvSpPr>
          <p:spPr>
            <a:xfrm>
              <a:off x="4589568" y="4534756"/>
              <a:ext cx="2153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sz="1600" dirty="0" err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www.isoftstone.com</a:t>
              </a:r>
              <a:endPara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679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5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23" r:id="rId2"/>
    <p:sldLayoutId id="2147483724" r:id="rId3"/>
    <p:sldLayoutId id="2147483702" r:id="rId4"/>
    <p:sldLayoutId id="214748370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680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4155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880" indent="-23368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58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5" r:id="rId2"/>
    <p:sldLayoutId id="2147483726" r:id="rId3"/>
    <p:sldLayoutId id="2147483716" r:id="rId4"/>
    <p:sldLayoutId id="214748372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680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4155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880" indent="-23368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7F4E3-E193-5543-579D-BEFDA5718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东南大学</a:t>
            </a:r>
            <a:r>
              <a:rPr lang="en-US" altLang="zh-CN" dirty="0"/>
              <a:t>2025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4CEDA2C-D5DF-D8BA-A6FF-DF3866B022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pc="-45" dirty="0">
                <a:solidFill>
                  <a:schemeClr val="tx1"/>
                </a:solidFill>
              </a:rPr>
              <a:t>实训任务</a:t>
            </a:r>
            <a:r>
              <a:rPr lang="en-US" altLang="zh-CN" spc="-20" dirty="0">
                <a:solidFill>
                  <a:schemeClr val="tx1"/>
                </a:solidFill>
              </a:rPr>
              <a:t>04</a:t>
            </a:r>
            <a:r>
              <a:rPr lang="en-US" altLang="zh-CN" spc="-45" dirty="0">
                <a:solidFill>
                  <a:schemeClr val="tx1"/>
                </a:solidFill>
              </a:rPr>
              <a:t>-</a:t>
            </a:r>
            <a:r>
              <a:rPr lang="zh-CN" altLang="en-US" spc="-45" dirty="0">
                <a:solidFill>
                  <a:schemeClr val="tx1"/>
                </a:solidFill>
              </a:rPr>
              <a:t>概要设计</a:t>
            </a:r>
            <a:r>
              <a:rPr lang="en-US" altLang="zh-CN" spc="-45" dirty="0">
                <a:solidFill>
                  <a:schemeClr val="tx1"/>
                </a:solidFill>
              </a:rPr>
              <a:t>-</a:t>
            </a:r>
            <a:r>
              <a:rPr lang="en-US" altLang="zh-CN" spc="-50" dirty="0">
                <a:solidFill>
                  <a:schemeClr val="tx1"/>
                </a:solidFill>
              </a:rPr>
              <a:t>2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231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C00000"/>
                </a:solidFill>
                <a:cs typeface="Arial" panose="020B0604020202020204" pitchFamily="34" charset="0"/>
              </a:rPr>
              <a:t>1.</a:t>
            </a:r>
            <a:r>
              <a:rPr lang="zh-CN" altLang="en-US" sz="2800" dirty="0">
                <a:solidFill>
                  <a:srgbClr val="C00000"/>
                </a:solidFill>
                <a:cs typeface="Arial" panose="020B0604020202020204" pitchFamily="34" charset="0"/>
              </a:rPr>
              <a:t> 任务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94251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object 3">
            <a:extLst>
              <a:ext uri="{FF2B5EF4-FFF2-40B4-BE49-F238E27FC236}">
                <a16:creationId xmlns:a16="http://schemas.microsoft.com/office/drawing/2014/main" id="{2FA845A2-5A1F-4756-BAC0-7464DEFDDCEE}"/>
              </a:ext>
            </a:extLst>
          </p:cNvPr>
          <p:cNvSpPr/>
          <p:nvPr/>
        </p:nvSpPr>
        <p:spPr>
          <a:xfrm>
            <a:off x="6096000" y="2517648"/>
            <a:ext cx="3746500" cy="542925"/>
          </a:xfrm>
          <a:custGeom>
            <a:avLst/>
            <a:gdLst/>
            <a:ahLst/>
            <a:cxnLst/>
            <a:rect l="l" t="t" r="r" b="b"/>
            <a:pathLst>
              <a:path w="3746500" h="542925">
                <a:moveTo>
                  <a:pt x="0" y="90424"/>
                </a:moveTo>
                <a:lnTo>
                  <a:pt x="7110" y="55239"/>
                </a:lnTo>
                <a:lnTo>
                  <a:pt x="26495" y="26495"/>
                </a:lnTo>
                <a:lnTo>
                  <a:pt x="55239" y="7110"/>
                </a:lnTo>
                <a:lnTo>
                  <a:pt x="90424" y="0"/>
                </a:lnTo>
                <a:lnTo>
                  <a:pt x="3655568" y="0"/>
                </a:lnTo>
                <a:lnTo>
                  <a:pt x="3690752" y="7110"/>
                </a:lnTo>
                <a:lnTo>
                  <a:pt x="3719496" y="26495"/>
                </a:lnTo>
                <a:lnTo>
                  <a:pt x="3738881" y="55239"/>
                </a:lnTo>
                <a:lnTo>
                  <a:pt x="3745992" y="90424"/>
                </a:lnTo>
                <a:lnTo>
                  <a:pt x="3745992" y="452119"/>
                </a:lnTo>
                <a:lnTo>
                  <a:pt x="3738881" y="487304"/>
                </a:lnTo>
                <a:lnTo>
                  <a:pt x="3719496" y="516048"/>
                </a:lnTo>
                <a:lnTo>
                  <a:pt x="3690752" y="535433"/>
                </a:lnTo>
                <a:lnTo>
                  <a:pt x="3655568" y="542543"/>
                </a:lnTo>
                <a:lnTo>
                  <a:pt x="90424" y="542543"/>
                </a:lnTo>
                <a:lnTo>
                  <a:pt x="55239" y="535433"/>
                </a:lnTo>
                <a:lnTo>
                  <a:pt x="26495" y="516048"/>
                </a:lnTo>
                <a:lnTo>
                  <a:pt x="7110" y="487304"/>
                </a:lnTo>
                <a:lnTo>
                  <a:pt x="0" y="452119"/>
                </a:lnTo>
                <a:lnTo>
                  <a:pt x="0" y="9042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>
            <a:extLst>
              <a:ext uri="{FF2B5EF4-FFF2-40B4-BE49-F238E27FC236}">
                <a16:creationId xmlns:a16="http://schemas.microsoft.com/office/drawing/2014/main" id="{CEFD790F-FBBC-4DB8-91CA-AE568D59E590}"/>
              </a:ext>
            </a:extLst>
          </p:cNvPr>
          <p:cNvSpPr txBox="1"/>
          <p:nvPr/>
        </p:nvSpPr>
        <p:spPr>
          <a:xfrm>
            <a:off x="6952233" y="2550032"/>
            <a:ext cx="2035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0000"/>
                </a:solidFill>
                <a:latin typeface="微软雅黑"/>
                <a:cs typeface="微软雅黑"/>
              </a:rPr>
              <a:t>概要设计 - </a:t>
            </a:r>
            <a:r>
              <a:rPr sz="2800" b="1" spc="-50" dirty="0">
                <a:solidFill>
                  <a:srgbClr val="FF0000"/>
                </a:solidFill>
                <a:latin typeface="微软雅黑"/>
                <a:cs typeface="微软雅黑"/>
              </a:rPr>
              <a:t>2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7" name="object 5">
            <a:extLst>
              <a:ext uri="{FF2B5EF4-FFF2-40B4-BE49-F238E27FC236}">
                <a16:creationId xmlns:a16="http://schemas.microsoft.com/office/drawing/2014/main" id="{50AC63DF-E238-4FED-8541-05FFE5CDD501}"/>
              </a:ext>
            </a:extLst>
          </p:cNvPr>
          <p:cNvSpPr/>
          <p:nvPr/>
        </p:nvSpPr>
        <p:spPr>
          <a:xfrm>
            <a:off x="2331720" y="2601467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4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8"/>
                </a:lnTo>
                <a:lnTo>
                  <a:pt x="2692574" y="38147"/>
                </a:lnTo>
                <a:lnTo>
                  <a:pt x="2697480" y="62484"/>
                </a:lnTo>
                <a:lnTo>
                  <a:pt x="2697480" y="312420"/>
                </a:lnTo>
                <a:lnTo>
                  <a:pt x="2692574" y="336756"/>
                </a:lnTo>
                <a:lnTo>
                  <a:pt x="2679192" y="356616"/>
                </a:lnTo>
                <a:lnTo>
                  <a:pt x="2659332" y="369998"/>
                </a:lnTo>
                <a:lnTo>
                  <a:pt x="2634996" y="374904"/>
                </a:lnTo>
                <a:lnTo>
                  <a:pt x="62484" y="374904"/>
                </a:lnTo>
                <a:lnTo>
                  <a:pt x="38147" y="369998"/>
                </a:lnTo>
                <a:lnTo>
                  <a:pt x="18288" y="356616"/>
                </a:lnTo>
                <a:lnTo>
                  <a:pt x="4905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682F83B6-CC54-4053-BE0C-C79893C81D97}"/>
              </a:ext>
            </a:extLst>
          </p:cNvPr>
          <p:cNvSpPr txBox="1"/>
          <p:nvPr/>
        </p:nvSpPr>
        <p:spPr>
          <a:xfrm>
            <a:off x="2853308" y="2614041"/>
            <a:ext cx="165353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1F5F"/>
                </a:solidFill>
                <a:latin typeface="微软雅黑"/>
                <a:cs typeface="微软雅黑"/>
              </a:rPr>
              <a:t>细化阶段(</a:t>
            </a:r>
            <a:r>
              <a:rPr sz="2000" b="1" spc="-10" dirty="0">
                <a:solidFill>
                  <a:srgbClr val="001F5F"/>
                </a:solidFill>
                <a:latin typeface="微软雅黑"/>
                <a:cs typeface="微软雅黑"/>
              </a:rPr>
              <a:t>4</a:t>
            </a:r>
            <a:r>
              <a:rPr sz="2000" b="1" spc="-25" dirty="0">
                <a:solidFill>
                  <a:srgbClr val="001F5F"/>
                </a:solidFill>
                <a:latin typeface="微软雅黑"/>
                <a:cs typeface="微软雅黑"/>
              </a:rPr>
              <a:t>天)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B1B44B04-5F0A-4C32-ADB1-D5BACCB3F228}"/>
              </a:ext>
            </a:extLst>
          </p:cNvPr>
          <p:cNvSpPr/>
          <p:nvPr/>
        </p:nvSpPr>
        <p:spPr>
          <a:xfrm>
            <a:off x="2331720" y="3619500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3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7"/>
                </a:lnTo>
                <a:lnTo>
                  <a:pt x="2692574" y="38147"/>
                </a:lnTo>
                <a:lnTo>
                  <a:pt x="2697480" y="62483"/>
                </a:lnTo>
                <a:lnTo>
                  <a:pt x="2697480" y="312419"/>
                </a:lnTo>
                <a:lnTo>
                  <a:pt x="2692574" y="336756"/>
                </a:lnTo>
                <a:lnTo>
                  <a:pt x="2679192" y="356615"/>
                </a:lnTo>
                <a:lnTo>
                  <a:pt x="2659332" y="369998"/>
                </a:lnTo>
                <a:lnTo>
                  <a:pt x="2634996" y="374904"/>
                </a:lnTo>
                <a:lnTo>
                  <a:pt x="62484" y="374904"/>
                </a:lnTo>
                <a:lnTo>
                  <a:pt x="38147" y="369998"/>
                </a:lnTo>
                <a:lnTo>
                  <a:pt x="18288" y="356616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3"/>
                </a:lnTo>
                <a:close/>
              </a:path>
            </a:pathLst>
          </a:custGeom>
          <a:ln w="12192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2C210FFA-26FC-4006-995F-8A9FC6A4E52B}"/>
              </a:ext>
            </a:extLst>
          </p:cNvPr>
          <p:cNvSpPr txBox="1"/>
          <p:nvPr/>
        </p:nvSpPr>
        <p:spPr>
          <a:xfrm>
            <a:off x="3158108" y="3632453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A6A6A6"/>
                </a:solidFill>
                <a:latin typeface="微软雅黑"/>
                <a:cs typeface="微软雅黑"/>
              </a:rPr>
              <a:t>构建阶段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EE2FC421-5430-488E-9B37-F47267D95A02}"/>
              </a:ext>
            </a:extLst>
          </p:cNvPr>
          <p:cNvSpPr/>
          <p:nvPr/>
        </p:nvSpPr>
        <p:spPr>
          <a:xfrm>
            <a:off x="2331720" y="4637532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4"/>
                </a:moveTo>
                <a:lnTo>
                  <a:pt x="4905" y="38147"/>
                </a:lnTo>
                <a:lnTo>
                  <a:pt x="18287" y="18288"/>
                </a:lnTo>
                <a:lnTo>
                  <a:pt x="38147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8"/>
                </a:lnTo>
                <a:lnTo>
                  <a:pt x="2692574" y="38147"/>
                </a:lnTo>
                <a:lnTo>
                  <a:pt x="2697480" y="62484"/>
                </a:lnTo>
                <a:lnTo>
                  <a:pt x="2697480" y="312420"/>
                </a:lnTo>
                <a:lnTo>
                  <a:pt x="2692574" y="336756"/>
                </a:lnTo>
                <a:lnTo>
                  <a:pt x="2679192" y="356616"/>
                </a:lnTo>
                <a:lnTo>
                  <a:pt x="2659332" y="369998"/>
                </a:lnTo>
                <a:lnTo>
                  <a:pt x="2634996" y="374904"/>
                </a:lnTo>
                <a:lnTo>
                  <a:pt x="62484" y="374904"/>
                </a:lnTo>
                <a:lnTo>
                  <a:pt x="38147" y="369998"/>
                </a:lnTo>
                <a:lnTo>
                  <a:pt x="18288" y="356616"/>
                </a:lnTo>
                <a:lnTo>
                  <a:pt x="4905" y="336756"/>
                </a:lnTo>
                <a:lnTo>
                  <a:pt x="0" y="312420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>
            <a:extLst>
              <a:ext uri="{FF2B5EF4-FFF2-40B4-BE49-F238E27FC236}">
                <a16:creationId xmlns:a16="http://schemas.microsoft.com/office/drawing/2014/main" id="{20D4F148-24FD-476A-A5CB-C9FED1C7206B}"/>
              </a:ext>
            </a:extLst>
          </p:cNvPr>
          <p:cNvSpPr txBox="1"/>
          <p:nvPr/>
        </p:nvSpPr>
        <p:spPr>
          <a:xfrm>
            <a:off x="3158108" y="4650740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A6A6A6"/>
                </a:solidFill>
                <a:latin typeface="微软雅黑"/>
                <a:cs typeface="微软雅黑"/>
              </a:rPr>
              <a:t>移交阶段</a:t>
            </a:r>
            <a:endParaRPr sz="2000">
              <a:latin typeface="微软雅黑"/>
              <a:cs typeface="微软雅黑"/>
            </a:endParaRPr>
          </a:p>
        </p:txBody>
      </p:sp>
      <p:grpSp>
        <p:nvGrpSpPr>
          <p:cNvPr id="33" name="object 11">
            <a:extLst>
              <a:ext uri="{FF2B5EF4-FFF2-40B4-BE49-F238E27FC236}">
                <a16:creationId xmlns:a16="http://schemas.microsoft.com/office/drawing/2014/main" id="{AC1C04BB-34E4-44DA-A7FB-45A88CD3A2D8}"/>
              </a:ext>
            </a:extLst>
          </p:cNvPr>
          <p:cNvGrpSpPr/>
          <p:nvPr/>
        </p:nvGrpSpPr>
        <p:grpSpPr>
          <a:xfrm>
            <a:off x="5029200" y="1979676"/>
            <a:ext cx="2978150" cy="1512570"/>
            <a:chOff x="5029200" y="1979676"/>
            <a:chExt cx="2978150" cy="1512570"/>
          </a:xfrm>
        </p:grpSpPr>
        <p:sp>
          <p:nvSpPr>
            <p:cNvPr id="34" name="object 12">
              <a:extLst>
                <a:ext uri="{FF2B5EF4-FFF2-40B4-BE49-F238E27FC236}">
                  <a16:creationId xmlns:a16="http://schemas.microsoft.com/office/drawing/2014/main" id="{443818B1-5238-4D2B-A5D2-E60584B5D040}"/>
                </a:ext>
              </a:extLst>
            </p:cNvPr>
            <p:cNvSpPr/>
            <p:nvPr/>
          </p:nvSpPr>
          <p:spPr>
            <a:xfrm>
              <a:off x="5029200" y="2750820"/>
              <a:ext cx="1067435" cy="76200"/>
            </a:xfrm>
            <a:custGeom>
              <a:avLst/>
              <a:gdLst/>
              <a:ahLst/>
              <a:cxnLst/>
              <a:rect l="l" t="t" r="r" b="b"/>
              <a:pathLst>
                <a:path w="1067435" h="76200">
                  <a:moveTo>
                    <a:pt x="991108" y="0"/>
                  </a:moveTo>
                  <a:lnTo>
                    <a:pt x="991108" y="76200"/>
                  </a:lnTo>
                  <a:lnTo>
                    <a:pt x="1054608" y="44450"/>
                  </a:lnTo>
                  <a:lnTo>
                    <a:pt x="1003808" y="44450"/>
                  </a:lnTo>
                  <a:lnTo>
                    <a:pt x="1003808" y="31750"/>
                  </a:lnTo>
                  <a:lnTo>
                    <a:pt x="1054608" y="31750"/>
                  </a:lnTo>
                  <a:lnTo>
                    <a:pt x="991108" y="0"/>
                  </a:lnTo>
                  <a:close/>
                </a:path>
                <a:path w="1067435" h="76200">
                  <a:moveTo>
                    <a:pt x="991108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991108" y="44450"/>
                  </a:lnTo>
                  <a:lnTo>
                    <a:pt x="991108" y="31750"/>
                  </a:lnTo>
                  <a:close/>
                </a:path>
                <a:path w="1067435" h="76200">
                  <a:moveTo>
                    <a:pt x="1054608" y="31750"/>
                  </a:moveTo>
                  <a:lnTo>
                    <a:pt x="1003808" y="31750"/>
                  </a:lnTo>
                  <a:lnTo>
                    <a:pt x="1003808" y="44450"/>
                  </a:lnTo>
                  <a:lnTo>
                    <a:pt x="1054608" y="44450"/>
                  </a:lnTo>
                  <a:lnTo>
                    <a:pt x="1067308" y="38100"/>
                  </a:lnTo>
                  <a:lnTo>
                    <a:pt x="1054608" y="3175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3">
              <a:extLst>
                <a:ext uri="{FF2B5EF4-FFF2-40B4-BE49-F238E27FC236}">
                  <a16:creationId xmlns:a16="http://schemas.microsoft.com/office/drawing/2014/main" id="{C16DFC31-2C7E-4067-9D03-EC5B6B159A80}"/>
                </a:ext>
              </a:extLst>
            </p:cNvPr>
            <p:cNvSpPr/>
            <p:nvPr/>
          </p:nvSpPr>
          <p:spPr>
            <a:xfrm>
              <a:off x="7930896" y="1979675"/>
              <a:ext cx="76200" cy="1512570"/>
            </a:xfrm>
            <a:custGeom>
              <a:avLst/>
              <a:gdLst/>
              <a:ahLst/>
              <a:cxnLst/>
              <a:rect l="l" t="t" r="r" b="b"/>
              <a:pathLst>
                <a:path w="76200" h="1512570">
                  <a:moveTo>
                    <a:pt x="76200" y="1436243"/>
                  </a:moveTo>
                  <a:lnTo>
                    <a:pt x="44450" y="1436243"/>
                  </a:lnTo>
                  <a:lnTo>
                    <a:pt x="44450" y="1080516"/>
                  </a:lnTo>
                  <a:lnTo>
                    <a:pt x="31750" y="1080516"/>
                  </a:lnTo>
                  <a:lnTo>
                    <a:pt x="31750" y="1436243"/>
                  </a:lnTo>
                  <a:lnTo>
                    <a:pt x="0" y="1436243"/>
                  </a:lnTo>
                  <a:lnTo>
                    <a:pt x="38100" y="1512443"/>
                  </a:lnTo>
                  <a:lnTo>
                    <a:pt x="69850" y="1448943"/>
                  </a:lnTo>
                  <a:lnTo>
                    <a:pt x="76200" y="1436243"/>
                  </a:lnTo>
                  <a:close/>
                </a:path>
                <a:path w="76200" h="1512570">
                  <a:moveTo>
                    <a:pt x="76200" y="462661"/>
                  </a:moveTo>
                  <a:lnTo>
                    <a:pt x="44450" y="462661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462661"/>
                  </a:lnTo>
                  <a:lnTo>
                    <a:pt x="0" y="462661"/>
                  </a:lnTo>
                  <a:lnTo>
                    <a:pt x="38100" y="538861"/>
                  </a:lnTo>
                  <a:lnTo>
                    <a:pt x="69850" y="475361"/>
                  </a:lnTo>
                  <a:lnTo>
                    <a:pt x="76200" y="462661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14">
            <a:extLst>
              <a:ext uri="{FF2B5EF4-FFF2-40B4-BE49-F238E27FC236}">
                <a16:creationId xmlns:a16="http://schemas.microsoft.com/office/drawing/2014/main" id="{E3D8340F-2534-42FD-9147-59979E049EC8}"/>
              </a:ext>
            </a:extLst>
          </p:cNvPr>
          <p:cNvSpPr/>
          <p:nvPr/>
        </p:nvSpPr>
        <p:spPr>
          <a:xfrm>
            <a:off x="2331720" y="1583436"/>
            <a:ext cx="2697480" cy="375285"/>
          </a:xfrm>
          <a:custGeom>
            <a:avLst/>
            <a:gdLst/>
            <a:ahLst/>
            <a:cxnLst/>
            <a:rect l="l" t="t" r="r" b="b"/>
            <a:pathLst>
              <a:path w="2697479" h="375285">
                <a:moveTo>
                  <a:pt x="0" y="62484"/>
                </a:moveTo>
                <a:lnTo>
                  <a:pt x="4905" y="38147"/>
                </a:lnTo>
                <a:lnTo>
                  <a:pt x="18287" y="18287"/>
                </a:lnTo>
                <a:lnTo>
                  <a:pt x="38147" y="4905"/>
                </a:lnTo>
                <a:lnTo>
                  <a:pt x="62484" y="0"/>
                </a:lnTo>
                <a:lnTo>
                  <a:pt x="2634996" y="0"/>
                </a:lnTo>
                <a:lnTo>
                  <a:pt x="2659332" y="4905"/>
                </a:lnTo>
                <a:lnTo>
                  <a:pt x="2679192" y="18287"/>
                </a:lnTo>
                <a:lnTo>
                  <a:pt x="2692574" y="38147"/>
                </a:lnTo>
                <a:lnTo>
                  <a:pt x="2697480" y="62484"/>
                </a:lnTo>
                <a:lnTo>
                  <a:pt x="2697480" y="312419"/>
                </a:lnTo>
                <a:lnTo>
                  <a:pt x="2692574" y="336756"/>
                </a:lnTo>
                <a:lnTo>
                  <a:pt x="2679192" y="356615"/>
                </a:lnTo>
                <a:lnTo>
                  <a:pt x="2659332" y="369998"/>
                </a:lnTo>
                <a:lnTo>
                  <a:pt x="2634996" y="374903"/>
                </a:lnTo>
                <a:lnTo>
                  <a:pt x="62484" y="374903"/>
                </a:lnTo>
                <a:lnTo>
                  <a:pt x="38147" y="369998"/>
                </a:lnTo>
                <a:lnTo>
                  <a:pt x="18288" y="356615"/>
                </a:lnTo>
                <a:lnTo>
                  <a:pt x="4905" y="336756"/>
                </a:lnTo>
                <a:lnTo>
                  <a:pt x="0" y="312419"/>
                </a:lnTo>
                <a:lnTo>
                  <a:pt x="0" y="62484"/>
                </a:lnTo>
                <a:close/>
              </a:path>
            </a:pathLst>
          </a:custGeom>
          <a:ln w="12192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>
            <a:extLst>
              <a:ext uri="{FF2B5EF4-FFF2-40B4-BE49-F238E27FC236}">
                <a16:creationId xmlns:a16="http://schemas.microsoft.com/office/drawing/2014/main" id="{BA72C29D-7D8D-4835-8D22-249368402667}"/>
              </a:ext>
            </a:extLst>
          </p:cNvPr>
          <p:cNvSpPr txBox="1"/>
          <p:nvPr/>
        </p:nvSpPr>
        <p:spPr>
          <a:xfrm>
            <a:off x="3158108" y="1595755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A6A6A6"/>
                </a:solidFill>
                <a:latin typeface="微软雅黑"/>
                <a:cs typeface="微软雅黑"/>
              </a:rPr>
              <a:t>初始阶段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8" name="object 16">
            <a:extLst>
              <a:ext uri="{FF2B5EF4-FFF2-40B4-BE49-F238E27FC236}">
                <a16:creationId xmlns:a16="http://schemas.microsoft.com/office/drawing/2014/main" id="{9E780D18-5C06-4194-BE0C-AE3EFF9EB855}"/>
              </a:ext>
            </a:extLst>
          </p:cNvPr>
          <p:cNvSpPr txBox="1"/>
          <p:nvPr/>
        </p:nvSpPr>
        <p:spPr>
          <a:xfrm>
            <a:off x="7725918" y="1634490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微软雅黑"/>
                <a:cs typeface="微软雅黑"/>
              </a:rPr>
              <a:t>承上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9" name="object 17">
            <a:extLst>
              <a:ext uri="{FF2B5EF4-FFF2-40B4-BE49-F238E27FC236}">
                <a16:creationId xmlns:a16="http://schemas.microsoft.com/office/drawing/2014/main" id="{D3427FFB-4D9B-4608-8DDC-221CCB5BA514}"/>
              </a:ext>
            </a:extLst>
          </p:cNvPr>
          <p:cNvSpPr txBox="1"/>
          <p:nvPr/>
        </p:nvSpPr>
        <p:spPr>
          <a:xfrm>
            <a:off x="7264145" y="3516325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微软雅黑"/>
                <a:cs typeface="微软雅黑"/>
              </a:rPr>
              <a:t>下启详细设计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0" name="object 18">
            <a:extLst>
              <a:ext uri="{FF2B5EF4-FFF2-40B4-BE49-F238E27FC236}">
                <a16:creationId xmlns:a16="http://schemas.microsoft.com/office/drawing/2014/main" id="{348AB397-D9D4-47CC-94E4-FA0B360F2DA6}"/>
              </a:ext>
            </a:extLst>
          </p:cNvPr>
          <p:cNvSpPr/>
          <p:nvPr/>
        </p:nvSpPr>
        <p:spPr>
          <a:xfrm>
            <a:off x="5029200" y="1770888"/>
            <a:ext cx="2617470" cy="24130"/>
          </a:xfrm>
          <a:custGeom>
            <a:avLst/>
            <a:gdLst/>
            <a:ahLst/>
            <a:cxnLst/>
            <a:rect l="l" t="t" r="r" b="b"/>
            <a:pathLst>
              <a:path w="2617470" h="24130">
                <a:moveTo>
                  <a:pt x="0" y="0"/>
                </a:moveTo>
                <a:lnTo>
                  <a:pt x="2617343" y="23749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>
            <a:extLst>
              <a:ext uri="{FF2B5EF4-FFF2-40B4-BE49-F238E27FC236}">
                <a16:creationId xmlns:a16="http://schemas.microsoft.com/office/drawing/2014/main" id="{6F915A47-B41C-457E-9A8F-C7BC8A375109}"/>
              </a:ext>
            </a:extLst>
          </p:cNvPr>
          <p:cNvSpPr txBox="1"/>
          <p:nvPr/>
        </p:nvSpPr>
        <p:spPr>
          <a:xfrm>
            <a:off x="9940543" y="2293467"/>
            <a:ext cx="109537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5700"/>
              </a:lnSpc>
              <a:spcBef>
                <a:spcPts val="100"/>
              </a:spcBef>
            </a:pPr>
            <a:r>
              <a:rPr sz="1400" spc="-10" dirty="0">
                <a:latin typeface="微软雅黑"/>
                <a:cs typeface="微软雅黑"/>
              </a:rPr>
              <a:t>也称规格设计是详设的依据重要性很突出</a:t>
            </a:r>
            <a:endParaRPr sz="14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0596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2.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内容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object 3">
            <a:extLst>
              <a:ext uri="{FF2B5EF4-FFF2-40B4-BE49-F238E27FC236}">
                <a16:creationId xmlns:a16="http://schemas.microsoft.com/office/drawing/2014/main" id="{D777ECFA-452E-4620-9FA7-859949C1D988}"/>
              </a:ext>
            </a:extLst>
          </p:cNvPr>
          <p:cNvSpPr txBox="1"/>
          <p:nvPr/>
        </p:nvSpPr>
        <p:spPr>
          <a:xfrm>
            <a:off x="1138224" y="1918842"/>
            <a:ext cx="4020820" cy="127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86385" algn="l"/>
              </a:tabLst>
            </a:pPr>
            <a:r>
              <a:rPr sz="1800" b="1" dirty="0">
                <a:latin typeface="微软雅黑"/>
                <a:cs typeface="微软雅黑"/>
              </a:rPr>
              <a:t>继续功能模型设计与实体</a:t>
            </a:r>
            <a:r>
              <a:rPr sz="1800" b="1" spc="-10" dirty="0">
                <a:latin typeface="微软雅黑"/>
                <a:cs typeface="微软雅黑"/>
              </a:rPr>
              <a:t>ER</a:t>
            </a:r>
            <a:r>
              <a:rPr sz="1800" b="1" spc="-15" dirty="0">
                <a:latin typeface="微软雅黑"/>
                <a:cs typeface="微软雅黑"/>
              </a:rPr>
              <a:t>模型设计</a:t>
            </a:r>
            <a:endParaRPr sz="1800">
              <a:latin typeface="微软雅黑"/>
              <a:cs typeface="微软雅黑"/>
            </a:endParaRPr>
          </a:p>
          <a:p>
            <a:pPr marL="270510" indent="-25781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70510" algn="l"/>
              </a:tabLst>
            </a:pPr>
            <a:r>
              <a:rPr sz="1800" spc="-20" dirty="0">
                <a:latin typeface="微软雅黑"/>
                <a:cs typeface="微软雅黑"/>
              </a:rPr>
              <a:t>UI设计；</a:t>
            </a:r>
            <a:endParaRPr sz="1800">
              <a:latin typeface="微软雅黑"/>
              <a:cs typeface="微软雅黑"/>
            </a:endParaRPr>
          </a:p>
          <a:p>
            <a:pPr marL="270510" indent="-25781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70510" algn="l"/>
              </a:tabLst>
            </a:pPr>
            <a:r>
              <a:rPr sz="1800" spc="-5" dirty="0">
                <a:latin typeface="微软雅黑"/>
                <a:cs typeface="微软雅黑"/>
              </a:rPr>
              <a:t>技术架构设计与总体设计；</a:t>
            </a:r>
            <a:endParaRPr sz="1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11019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3.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要求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object 3">
            <a:extLst>
              <a:ext uri="{FF2B5EF4-FFF2-40B4-BE49-F238E27FC236}">
                <a16:creationId xmlns:a16="http://schemas.microsoft.com/office/drawing/2014/main" id="{AEDF5D04-C921-465F-90D9-BD96ECE378F6}"/>
              </a:ext>
            </a:extLst>
          </p:cNvPr>
          <p:cNvSpPr txBox="1"/>
          <p:nvPr/>
        </p:nvSpPr>
        <p:spPr>
          <a:xfrm>
            <a:off x="1011123" y="1688719"/>
            <a:ext cx="3272154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86385" algn="l"/>
              </a:tabLst>
            </a:pPr>
            <a:r>
              <a:rPr sz="1800" b="1" dirty="0">
                <a:latin typeface="微软雅黑"/>
                <a:cs typeface="微软雅黑"/>
              </a:rPr>
              <a:t>完成</a:t>
            </a:r>
            <a:r>
              <a:rPr sz="1800" b="1" spc="-10" dirty="0">
                <a:latin typeface="微软雅黑"/>
                <a:cs typeface="微软雅黑"/>
              </a:rPr>
              <a:t>UI</a:t>
            </a:r>
            <a:r>
              <a:rPr sz="1800" b="1" spc="-20" dirty="0">
                <a:latin typeface="微软雅黑"/>
                <a:cs typeface="微软雅黑"/>
              </a:rPr>
              <a:t>设计；</a:t>
            </a:r>
            <a:endParaRPr sz="1800">
              <a:latin typeface="微软雅黑"/>
              <a:cs typeface="微软雅黑"/>
            </a:endParaRPr>
          </a:p>
          <a:p>
            <a:pPr marL="286385" indent="-27368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86385" algn="l"/>
              </a:tabLst>
            </a:pPr>
            <a:r>
              <a:rPr sz="1800" b="1" spc="-15" dirty="0">
                <a:latin typeface="微软雅黑"/>
                <a:cs typeface="微软雅黑"/>
              </a:rPr>
              <a:t>完成技术架构设计与总体设计</a:t>
            </a:r>
            <a:endParaRPr sz="1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9167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B5001F"/>
                </a:solidFill>
                <a:cs typeface="Arial" panose="020B0604020202020204" pitchFamily="34" charset="0"/>
              </a:rPr>
              <a:t>4.</a:t>
            </a:r>
            <a:r>
              <a:rPr lang="zh-CN" altLang="en-US" sz="2800" dirty="0">
                <a:solidFill>
                  <a:srgbClr val="B5001F"/>
                </a:solidFill>
                <a:cs typeface="Arial" panose="020B0604020202020204" pitchFamily="34" charset="0"/>
              </a:rPr>
              <a:t> 提交物</a:t>
            </a: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object 6">
            <a:extLst>
              <a:ext uri="{FF2B5EF4-FFF2-40B4-BE49-F238E27FC236}">
                <a16:creationId xmlns:a16="http://schemas.microsoft.com/office/drawing/2014/main" id="{12186CDF-09C3-4F2D-8DDA-23045CB46433}"/>
              </a:ext>
            </a:extLst>
          </p:cNvPr>
          <p:cNvSpPr txBox="1"/>
          <p:nvPr/>
        </p:nvSpPr>
        <p:spPr>
          <a:xfrm>
            <a:off x="3505327" y="2714701"/>
            <a:ext cx="4543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>
                <a:solidFill>
                  <a:srgbClr val="FF0000"/>
                </a:solidFill>
                <a:latin typeface="微软雅黑"/>
                <a:cs typeface="微软雅黑"/>
              </a:rPr>
              <a:t>完整的概要设计文档</a:t>
            </a:r>
            <a:r>
              <a:rPr sz="2800" b="1" spc="-10" dirty="0">
                <a:latin typeface="微软雅黑"/>
                <a:cs typeface="微软雅黑"/>
              </a:rPr>
              <a:t>（2/2）</a:t>
            </a:r>
            <a:endParaRPr sz="28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7457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7F4E3-E193-5543-579D-BEFDA5718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实训指导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15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spc="-25" dirty="0">
                <a:solidFill>
                  <a:srgbClr val="C00000"/>
                </a:solidFill>
              </a:rPr>
              <a:t>1.</a:t>
            </a:r>
            <a:r>
              <a:rPr lang="zh-CN" altLang="en-US" sz="2800" spc="-25" dirty="0">
                <a:solidFill>
                  <a:srgbClr val="C00000"/>
                </a:solidFill>
              </a:rPr>
              <a:t> </a:t>
            </a:r>
            <a:r>
              <a:rPr lang="zh-CN" altLang="en-US" sz="2800" spc="-10" dirty="0">
                <a:solidFill>
                  <a:srgbClr val="C00000"/>
                </a:solidFill>
              </a:rPr>
              <a:t>时序图的一些注意</a:t>
            </a:r>
            <a:endParaRPr lang="zh-CN" altLang="en-US" sz="2800" dirty="0">
              <a:solidFill>
                <a:srgbClr val="C00000"/>
              </a:solidFill>
              <a:latin typeface="Arial" panose="020B0604020202020204" pitchFamily="34" charset="0"/>
              <a:ea typeface="Lato Black" charset="0"/>
              <a:cs typeface="Arial" panose="020B0604020202020204" pitchFamily="34" charset="0"/>
            </a:endParaRP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object 4">
            <a:extLst>
              <a:ext uri="{FF2B5EF4-FFF2-40B4-BE49-F238E27FC236}">
                <a16:creationId xmlns:a16="http://schemas.microsoft.com/office/drawing/2014/main" id="{63A2D159-E509-4D89-9486-E53AD15B5519}"/>
              </a:ext>
            </a:extLst>
          </p:cNvPr>
          <p:cNvSpPr txBox="1"/>
          <p:nvPr/>
        </p:nvSpPr>
        <p:spPr>
          <a:xfrm>
            <a:off x="1173352" y="1494155"/>
            <a:ext cx="4826000" cy="157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以对象为中心的</a:t>
            </a:r>
            <a:r>
              <a:rPr sz="1800" b="1" dirty="0">
                <a:latin typeface="微软雅黑"/>
                <a:cs typeface="微软雅黑"/>
              </a:rPr>
              <a:t>功能</a:t>
            </a:r>
            <a:r>
              <a:rPr sz="1800" spc="-20" dirty="0">
                <a:latin typeface="微软雅黑"/>
                <a:cs typeface="微软雅黑"/>
              </a:rPr>
              <a:t>思维。</a:t>
            </a:r>
            <a:endParaRPr sz="1800">
              <a:latin typeface="微软雅黑"/>
              <a:cs typeface="微软雅黑"/>
            </a:endParaRPr>
          </a:p>
          <a:p>
            <a:pPr marL="113030" marR="5080" indent="-100965">
              <a:lnSpc>
                <a:spcPct val="231800"/>
              </a:lnSpc>
            </a:pPr>
            <a:r>
              <a:rPr sz="1800" spc="-5" dirty="0">
                <a:latin typeface="微软雅黑"/>
                <a:cs typeface="微软雅黑"/>
              </a:rPr>
              <a:t>操作流程请求使用实线，操作流返回使用虚线。一个节点表示一次调用。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6264841E-FB87-4B97-AAE6-5934FD51F7BC}"/>
              </a:ext>
            </a:extLst>
          </p:cNvPr>
          <p:cNvSpPr txBox="1"/>
          <p:nvPr/>
        </p:nvSpPr>
        <p:spPr>
          <a:xfrm>
            <a:off x="1273936" y="3859022"/>
            <a:ext cx="4826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/>
                <a:cs typeface="微软雅黑"/>
              </a:rPr>
              <a:t>通过时序图找出所有功能。功能粒度可细可粗。</a:t>
            </a:r>
            <a:endParaRPr sz="1800">
              <a:latin typeface="微软雅黑"/>
              <a:cs typeface="微软雅黑"/>
            </a:endParaRPr>
          </a:p>
        </p:txBody>
      </p:sp>
      <p:pic>
        <p:nvPicPr>
          <p:cNvPr id="43" name="object 5">
            <a:extLst>
              <a:ext uri="{FF2B5EF4-FFF2-40B4-BE49-F238E27FC236}">
                <a16:creationId xmlns:a16="http://schemas.microsoft.com/office/drawing/2014/main" id="{3B5E0793-300C-46EF-99F1-9290AF2F6C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2034" y="1635251"/>
            <a:ext cx="414234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6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spc="-25" dirty="0">
                <a:solidFill>
                  <a:srgbClr val="C00000"/>
                </a:solidFill>
              </a:rPr>
              <a:t>2.</a:t>
            </a:r>
            <a:r>
              <a:rPr lang="zh-CN" altLang="en-US" sz="2800" spc="-25" dirty="0">
                <a:solidFill>
                  <a:srgbClr val="C00000"/>
                </a:solidFill>
              </a:rPr>
              <a:t> </a:t>
            </a:r>
            <a:r>
              <a:rPr lang="zh-CN" altLang="en-US" sz="2800" spc="-10" dirty="0">
                <a:solidFill>
                  <a:srgbClr val="C00000"/>
                </a:solidFill>
              </a:rPr>
              <a:t>协作图的使用</a:t>
            </a:r>
            <a:endParaRPr lang="zh-CN" altLang="en-US" sz="28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object 4">
            <a:extLst>
              <a:ext uri="{FF2B5EF4-FFF2-40B4-BE49-F238E27FC236}">
                <a16:creationId xmlns:a16="http://schemas.microsoft.com/office/drawing/2014/main" id="{C9709320-4A63-469D-933E-0D8F04EB9613}"/>
              </a:ext>
            </a:extLst>
          </p:cNvPr>
          <p:cNvSpPr txBox="1"/>
          <p:nvPr/>
        </p:nvSpPr>
        <p:spPr>
          <a:xfrm>
            <a:off x="1873376" y="1974596"/>
            <a:ext cx="7569200" cy="2235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spc="-5" dirty="0">
                <a:latin typeface="微软雅黑"/>
                <a:cs typeface="微软雅黑"/>
              </a:rPr>
              <a:t>用来协作在功能结构与数据结构设计中，分析对象与对象业务关系。本质与时序图一样，如果时序图没有问题，协作图可选。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430"/>
              </a:spcBef>
            </a:pP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如果想体验一下的，则可以与实训图一样，在功能结构图后面使用协作图确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5" dirty="0">
                <a:latin typeface="微软雅黑"/>
                <a:cs typeface="微软雅黑"/>
              </a:rPr>
              <a:t>认功能对象与对象业务关系。</a:t>
            </a:r>
            <a:endParaRPr sz="1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0030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93416-4CED-2348-A1A2-695562715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C00000"/>
                </a:solidFill>
              </a:rPr>
              <a:t>3.</a:t>
            </a:r>
            <a:r>
              <a:rPr lang="zh-CN" altLang="en-US" sz="2800" spc="-30" dirty="0">
                <a:solidFill>
                  <a:srgbClr val="C00000"/>
                </a:solidFill>
              </a:rPr>
              <a:t> </a:t>
            </a:r>
            <a:r>
              <a:rPr lang="zh-CN" altLang="en-US" sz="2800" dirty="0">
                <a:solidFill>
                  <a:srgbClr val="C00000"/>
                </a:solidFill>
              </a:rPr>
              <a:t>从时序图到类</a:t>
            </a:r>
            <a:r>
              <a:rPr lang="zh-CN" altLang="en-US" sz="2800" spc="-10" dirty="0">
                <a:solidFill>
                  <a:srgbClr val="C00000"/>
                </a:solidFill>
              </a:rPr>
              <a:t>图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zh-CN" altLang="en-US" sz="2800" dirty="0">
                <a:solidFill>
                  <a:srgbClr val="C00000"/>
                </a:solidFill>
              </a:rPr>
              <a:t>对象图</a:t>
            </a:r>
            <a:r>
              <a:rPr lang="en-US" altLang="zh-CN" sz="2800" spc="-50" dirty="0">
                <a:solidFill>
                  <a:srgbClr val="C00000"/>
                </a:solidFill>
              </a:rPr>
              <a:t>)</a:t>
            </a:r>
            <a:endParaRPr lang="zh-CN" altLang="en-US" sz="28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BF944B17-5679-4715-9305-86FD4E9D7654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830541-D132-4A6D-92AE-3F16C608A601}"/>
              </a:ext>
            </a:extLst>
          </p:cNvPr>
          <p:cNvCxnSpPr>
            <a:cxnSpLocks/>
          </p:cNvCxnSpPr>
          <p:nvPr/>
        </p:nvCxnSpPr>
        <p:spPr>
          <a:xfrm>
            <a:off x="703100" y="1038421"/>
            <a:ext cx="6325229" cy="0"/>
          </a:xfrm>
          <a:prstGeom prst="line">
            <a:avLst/>
          </a:prstGeom>
          <a:ln w="38100">
            <a:solidFill>
              <a:srgbClr val="585656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7" name="object 3">
            <a:extLst>
              <a:ext uri="{FF2B5EF4-FFF2-40B4-BE49-F238E27FC236}">
                <a16:creationId xmlns:a16="http://schemas.microsoft.com/office/drawing/2014/main" id="{17C2222E-50E3-4CD0-92F0-85D3FA507695}"/>
              </a:ext>
            </a:extLst>
          </p:cNvPr>
          <p:cNvGrpSpPr/>
          <p:nvPr/>
        </p:nvGrpSpPr>
        <p:grpSpPr>
          <a:xfrm>
            <a:off x="1363923" y="1735835"/>
            <a:ext cx="8103234" cy="4181475"/>
            <a:chOff x="1363923" y="1735835"/>
            <a:chExt cx="8103234" cy="4181475"/>
          </a:xfrm>
        </p:grpSpPr>
        <p:pic>
          <p:nvPicPr>
            <p:cNvPr id="28" name="object 4">
              <a:extLst>
                <a:ext uri="{FF2B5EF4-FFF2-40B4-BE49-F238E27FC236}">
                  <a16:creationId xmlns:a16="http://schemas.microsoft.com/office/drawing/2014/main" id="{D6083516-A559-40CE-9AEB-36D699D3FE1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3923" y="1735835"/>
              <a:ext cx="4142345" cy="4181475"/>
            </a:xfrm>
            <a:prstGeom prst="rect">
              <a:avLst/>
            </a:prstGeom>
          </p:spPr>
        </p:pic>
        <p:pic>
          <p:nvPicPr>
            <p:cNvPr id="29" name="object 5">
              <a:extLst>
                <a:ext uri="{FF2B5EF4-FFF2-40B4-BE49-F238E27FC236}">
                  <a16:creationId xmlns:a16="http://schemas.microsoft.com/office/drawing/2014/main" id="{78675E56-9AF9-481C-A909-58CB4481EF9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7287" y="2726435"/>
              <a:ext cx="2209800" cy="876300"/>
            </a:xfrm>
            <a:prstGeom prst="rect">
              <a:avLst/>
            </a:prstGeom>
          </p:spPr>
        </p:pic>
        <p:sp>
          <p:nvSpPr>
            <p:cNvPr id="30" name="object 6">
              <a:extLst>
                <a:ext uri="{FF2B5EF4-FFF2-40B4-BE49-F238E27FC236}">
                  <a16:creationId xmlns:a16="http://schemas.microsoft.com/office/drawing/2014/main" id="{0DEE9E1C-1444-4881-BF9F-1328CACD8205}"/>
                </a:ext>
              </a:extLst>
            </p:cNvPr>
            <p:cNvSpPr/>
            <p:nvPr/>
          </p:nvSpPr>
          <p:spPr>
            <a:xfrm>
              <a:off x="5487162" y="1883663"/>
              <a:ext cx="2933065" cy="2460625"/>
            </a:xfrm>
            <a:custGeom>
              <a:avLst/>
              <a:gdLst/>
              <a:ahLst/>
              <a:cxnLst/>
              <a:rect l="l" t="t" r="r" b="b"/>
              <a:pathLst>
                <a:path w="2933065" h="2460625">
                  <a:moveTo>
                    <a:pt x="2068830" y="1844802"/>
                  </a:moveTo>
                  <a:lnTo>
                    <a:pt x="2059305" y="1825752"/>
                  </a:lnTo>
                  <a:lnTo>
                    <a:pt x="2011680" y="1730502"/>
                  </a:lnTo>
                  <a:lnTo>
                    <a:pt x="1954530" y="1844802"/>
                  </a:lnTo>
                  <a:lnTo>
                    <a:pt x="1992630" y="1844802"/>
                  </a:lnTo>
                  <a:lnTo>
                    <a:pt x="1992630" y="2460244"/>
                  </a:lnTo>
                  <a:lnTo>
                    <a:pt x="2030730" y="2460244"/>
                  </a:lnTo>
                  <a:lnTo>
                    <a:pt x="2030730" y="1844802"/>
                  </a:lnTo>
                  <a:lnTo>
                    <a:pt x="2068830" y="1844802"/>
                  </a:lnTo>
                  <a:close/>
                </a:path>
                <a:path w="2933065" h="2460625">
                  <a:moveTo>
                    <a:pt x="2932557" y="500634"/>
                  </a:moveTo>
                  <a:lnTo>
                    <a:pt x="2894457" y="500634"/>
                  </a:lnTo>
                  <a:lnTo>
                    <a:pt x="2894457" y="38100"/>
                  </a:lnTo>
                  <a:lnTo>
                    <a:pt x="2894457" y="19050"/>
                  </a:lnTo>
                  <a:lnTo>
                    <a:pt x="2894457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2856357" y="38100"/>
                  </a:lnTo>
                  <a:lnTo>
                    <a:pt x="2856357" y="500634"/>
                  </a:lnTo>
                  <a:lnTo>
                    <a:pt x="2818257" y="500634"/>
                  </a:lnTo>
                  <a:lnTo>
                    <a:pt x="2875407" y="614934"/>
                  </a:lnTo>
                  <a:lnTo>
                    <a:pt x="2923032" y="519684"/>
                  </a:lnTo>
                  <a:lnTo>
                    <a:pt x="2932557" y="50063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7">
              <a:extLst>
                <a:ext uri="{FF2B5EF4-FFF2-40B4-BE49-F238E27FC236}">
                  <a16:creationId xmlns:a16="http://schemas.microsoft.com/office/drawing/2014/main" id="{2AA55D05-7223-43E6-9D15-1308280396CF}"/>
                </a:ext>
              </a:extLst>
            </p:cNvPr>
            <p:cNvSpPr/>
            <p:nvPr/>
          </p:nvSpPr>
          <p:spPr>
            <a:xfrm>
              <a:off x="5340858" y="4322825"/>
              <a:ext cx="2158365" cy="0"/>
            </a:xfrm>
            <a:custGeom>
              <a:avLst/>
              <a:gdLst/>
              <a:ahLst/>
              <a:cxnLst/>
              <a:rect l="l" t="t" r="r" b="b"/>
              <a:pathLst>
                <a:path w="2158365">
                  <a:moveTo>
                    <a:pt x="0" y="0"/>
                  </a:moveTo>
                  <a:lnTo>
                    <a:pt x="2157984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8">
              <a:extLst>
                <a:ext uri="{FF2B5EF4-FFF2-40B4-BE49-F238E27FC236}">
                  <a16:creationId xmlns:a16="http://schemas.microsoft.com/office/drawing/2014/main" id="{7DA3176A-E035-455E-80BC-70A432A672EE}"/>
                </a:ext>
              </a:extLst>
            </p:cNvPr>
            <p:cNvSpPr/>
            <p:nvPr/>
          </p:nvSpPr>
          <p:spPr>
            <a:xfrm>
              <a:off x="8877300" y="3722369"/>
              <a:ext cx="114300" cy="1280160"/>
            </a:xfrm>
            <a:custGeom>
              <a:avLst/>
              <a:gdLst/>
              <a:ahLst/>
              <a:cxnLst/>
              <a:rect l="l" t="t" r="r" b="b"/>
              <a:pathLst>
                <a:path w="114300" h="1280160">
                  <a:moveTo>
                    <a:pt x="38100" y="1165859"/>
                  </a:moveTo>
                  <a:lnTo>
                    <a:pt x="0" y="1165859"/>
                  </a:lnTo>
                  <a:lnTo>
                    <a:pt x="57150" y="1280159"/>
                  </a:lnTo>
                  <a:lnTo>
                    <a:pt x="104775" y="1184909"/>
                  </a:lnTo>
                  <a:lnTo>
                    <a:pt x="38100" y="1184909"/>
                  </a:lnTo>
                  <a:lnTo>
                    <a:pt x="38100" y="1165859"/>
                  </a:lnTo>
                  <a:close/>
                </a:path>
                <a:path w="114300" h="1280160">
                  <a:moveTo>
                    <a:pt x="76200" y="0"/>
                  </a:moveTo>
                  <a:lnTo>
                    <a:pt x="38100" y="0"/>
                  </a:lnTo>
                  <a:lnTo>
                    <a:pt x="38100" y="1184909"/>
                  </a:lnTo>
                  <a:lnTo>
                    <a:pt x="76200" y="1184909"/>
                  </a:lnTo>
                  <a:lnTo>
                    <a:pt x="76200" y="0"/>
                  </a:lnTo>
                  <a:close/>
                </a:path>
                <a:path w="114300" h="1280160">
                  <a:moveTo>
                    <a:pt x="114300" y="1165859"/>
                  </a:moveTo>
                  <a:lnTo>
                    <a:pt x="76200" y="1165859"/>
                  </a:lnTo>
                  <a:lnTo>
                    <a:pt x="76200" y="1184909"/>
                  </a:lnTo>
                  <a:lnTo>
                    <a:pt x="104775" y="1184909"/>
                  </a:lnTo>
                  <a:lnTo>
                    <a:pt x="114300" y="116585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9">
            <a:extLst>
              <a:ext uri="{FF2B5EF4-FFF2-40B4-BE49-F238E27FC236}">
                <a16:creationId xmlns:a16="http://schemas.microsoft.com/office/drawing/2014/main" id="{58188A7A-5E93-4F6A-83C1-2C2190CB25D0}"/>
              </a:ext>
            </a:extLst>
          </p:cNvPr>
          <p:cNvSpPr/>
          <p:nvPr/>
        </p:nvSpPr>
        <p:spPr>
          <a:xfrm>
            <a:off x="9696450" y="3108960"/>
            <a:ext cx="1122045" cy="114300"/>
          </a:xfrm>
          <a:custGeom>
            <a:avLst/>
            <a:gdLst/>
            <a:ahLst/>
            <a:cxnLst/>
            <a:rect l="l" t="t" r="r" b="b"/>
            <a:pathLst>
              <a:path w="112204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12204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122045" h="114300">
                <a:moveTo>
                  <a:pt x="112204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122045" y="76200"/>
                </a:lnTo>
                <a:lnTo>
                  <a:pt x="1122045" y="38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0">
            <a:extLst>
              <a:ext uri="{FF2B5EF4-FFF2-40B4-BE49-F238E27FC236}">
                <a16:creationId xmlns:a16="http://schemas.microsoft.com/office/drawing/2014/main" id="{E7147BEE-5BAE-46B7-8B3D-09422260CB6C}"/>
              </a:ext>
            </a:extLst>
          </p:cNvPr>
          <p:cNvSpPr txBox="1"/>
          <p:nvPr/>
        </p:nvSpPr>
        <p:spPr>
          <a:xfrm>
            <a:off x="10897616" y="299110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微软雅黑"/>
                <a:cs typeface="微软雅黑"/>
              </a:rPr>
              <a:t>数据分析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5" name="object 11">
            <a:extLst>
              <a:ext uri="{FF2B5EF4-FFF2-40B4-BE49-F238E27FC236}">
                <a16:creationId xmlns:a16="http://schemas.microsoft.com/office/drawing/2014/main" id="{6527EC7D-8E4A-4D07-A09D-E22ED9DF54D0}"/>
              </a:ext>
            </a:extLst>
          </p:cNvPr>
          <p:cNvSpPr txBox="1"/>
          <p:nvPr/>
        </p:nvSpPr>
        <p:spPr>
          <a:xfrm>
            <a:off x="8693657" y="5400547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微软雅黑"/>
                <a:cs typeface="微软雅黑"/>
              </a:rPr>
              <a:t>实体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6" name="object 12">
            <a:extLst>
              <a:ext uri="{FF2B5EF4-FFF2-40B4-BE49-F238E27FC236}">
                <a16:creationId xmlns:a16="http://schemas.microsoft.com/office/drawing/2014/main" id="{D23CB846-4CC3-4F88-B1B5-0E9BD1332CC7}"/>
              </a:ext>
            </a:extLst>
          </p:cNvPr>
          <p:cNvSpPr txBox="1"/>
          <p:nvPr/>
        </p:nvSpPr>
        <p:spPr>
          <a:xfrm>
            <a:off x="3779646" y="5400547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微软雅黑"/>
                <a:cs typeface="微软雅黑"/>
              </a:rPr>
              <a:t>功能结构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7" name="object 13">
            <a:extLst>
              <a:ext uri="{FF2B5EF4-FFF2-40B4-BE49-F238E27FC236}">
                <a16:creationId xmlns:a16="http://schemas.microsoft.com/office/drawing/2014/main" id="{0C5CB40D-CE22-4ECD-A361-A7C4E4D6A9C0}"/>
              </a:ext>
            </a:extLst>
          </p:cNvPr>
          <p:cNvSpPr txBox="1"/>
          <p:nvPr/>
        </p:nvSpPr>
        <p:spPr>
          <a:xfrm>
            <a:off x="6089650" y="6117132"/>
            <a:ext cx="735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微软雅黑"/>
                <a:cs typeface="微软雅黑"/>
              </a:rPr>
              <a:t>UI</a:t>
            </a:r>
            <a:r>
              <a:rPr sz="1800" b="1" spc="-25" dirty="0">
                <a:solidFill>
                  <a:srgbClr val="FF0000"/>
                </a:solidFill>
                <a:latin typeface="微软雅黑"/>
                <a:cs typeface="微软雅黑"/>
              </a:rPr>
              <a:t>设计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8" name="object 14">
            <a:extLst>
              <a:ext uri="{FF2B5EF4-FFF2-40B4-BE49-F238E27FC236}">
                <a16:creationId xmlns:a16="http://schemas.microsoft.com/office/drawing/2014/main" id="{71A68889-7B12-48EA-A799-402CD955640C}"/>
              </a:ext>
            </a:extLst>
          </p:cNvPr>
          <p:cNvSpPr/>
          <p:nvPr/>
        </p:nvSpPr>
        <p:spPr>
          <a:xfrm>
            <a:off x="4230623" y="5744717"/>
            <a:ext cx="1602105" cy="544195"/>
          </a:xfrm>
          <a:custGeom>
            <a:avLst/>
            <a:gdLst/>
            <a:ahLst/>
            <a:cxnLst/>
            <a:rect l="l" t="t" r="r" b="b"/>
            <a:pathLst>
              <a:path w="1602104" h="544195">
                <a:moveTo>
                  <a:pt x="1487677" y="429640"/>
                </a:moveTo>
                <a:lnTo>
                  <a:pt x="1487677" y="543940"/>
                </a:lnTo>
                <a:lnTo>
                  <a:pt x="1563877" y="505840"/>
                </a:lnTo>
                <a:lnTo>
                  <a:pt x="1506727" y="505840"/>
                </a:lnTo>
                <a:lnTo>
                  <a:pt x="1506727" y="467740"/>
                </a:lnTo>
                <a:lnTo>
                  <a:pt x="1563877" y="467740"/>
                </a:lnTo>
                <a:lnTo>
                  <a:pt x="1487677" y="429640"/>
                </a:lnTo>
                <a:close/>
              </a:path>
              <a:path w="1602104" h="544195">
                <a:moveTo>
                  <a:pt x="38100" y="0"/>
                </a:moveTo>
                <a:lnTo>
                  <a:pt x="0" y="0"/>
                </a:lnTo>
                <a:lnTo>
                  <a:pt x="0" y="505840"/>
                </a:lnTo>
                <a:lnTo>
                  <a:pt x="1487677" y="505840"/>
                </a:lnTo>
                <a:lnTo>
                  <a:pt x="1487677" y="486790"/>
                </a:lnTo>
                <a:lnTo>
                  <a:pt x="38100" y="486790"/>
                </a:lnTo>
                <a:lnTo>
                  <a:pt x="19050" y="467740"/>
                </a:lnTo>
                <a:lnTo>
                  <a:pt x="38100" y="467740"/>
                </a:lnTo>
                <a:lnTo>
                  <a:pt x="38100" y="0"/>
                </a:lnTo>
                <a:close/>
              </a:path>
              <a:path w="1602104" h="544195">
                <a:moveTo>
                  <a:pt x="1563877" y="467740"/>
                </a:moveTo>
                <a:lnTo>
                  <a:pt x="1506727" y="467740"/>
                </a:lnTo>
                <a:lnTo>
                  <a:pt x="1506727" y="505840"/>
                </a:lnTo>
                <a:lnTo>
                  <a:pt x="1563877" y="505840"/>
                </a:lnTo>
                <a:lnTo>
                  <a:pt x="1601977" y="486790"/>
                </a:lnTo>
                <a:lnTo>
                  <a:pt x="1563877" y="467740"/>
                </a:lnTo>
                <a:close/>
              </a:path>
              <a:path w="1602104" h="544195">
                <a:moveTo>
                  <a:pt x="38100" y="467740"/>
                </a:moveTo>
                <a:lnTo>
                  <a:pt x="19050" y="467740"/>
                </a:lnTo>
                <a:lnTo>
                  <a:pt x="38100" y="486790"/>
                </a:lnTo>
                <a:lnTo>
                  <a:pt x="38100" y="467740"/>
                </a:lnTo>
                <a:close/>
              </a:path>
              <a:path w="1602104" h="544195">
                <a:moveTo>
                  <a:pt x="1487677" y="467740"/>
                </a:moveTo>
                <a:lnTo>
                  <a:pt x="38100" y="467740"/>
                </a:lnTo>
                <a:lnTo>
                  <a:pt x="38100" y="486790"/>
                </a:lnTo>
                <a:lnTo>
                  <a:pt x="1487677" y="486790"/>
                </a:lnTo>
                <a:lnTo>
                  <a:pt x="1487677" y="46774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5">
            <a:extLst>
              <a:ext uri="{FF2B5EF4-FFF2-40B4-BE49-F238E27FC236}">
                <a16:creationId xmlns:a16="http://schemas.microsoft.com/office/drawing/2014/main" id="{8A6CFB26-ABF1-4A66-AE86-E1E9ECE5A83C}"/>
              </a:ext>
            </a:extLst>
          </p:cNvPr>
          <p:cNvSpPr txBox="1"/>
          <p:nvPr/>
        </p:nvSpPr>
        <p:spPr>
          <a:xfrm>
            <a:off x="4677536" y="5997955"/>
            <a:ext cx="7264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微软雅黑"/>
                <a:cs typeface="微软雅黑"/>
              </a:rPr>
              <a:t>入口与菜单</a:t>
            </a:r>
            <a:endParaRPr sz="11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69338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577427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Layout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ntent Layout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14429</TotalTime>
  <Words>117</Words>
  <Application>Microsoft Office PowerPoint</Application>
  <PresentationFormat>宽屏</PresentationFormat>
  <Paragraphs>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Hiragino Sans W6</vt:lpstr>
      <vt:lpstr>Lato Black</vt:lpstr>
      <vt:lpstr>等线</vt:lpstr>
      <vt:lpstr>Microsoft YaHei</vt:lpstr>
      <vt:lpstr>Microsoft YaHei</vt:lpstr>
      <vt:lpstr>Arial</vt:lpstr>
      <vt:lpstr>Verdana</vt:lpstr>
      <vt:lpstr>Wingdings</vt:lpstr>
      <vt:lpstr>Content Layouts</vt:lpstr>
      <vt:lpstr>1_Content Layouts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zyc19890708@126.com</dc:creator>
  <cp:lastModifiedBy>Think</cp:lastModifiedBy>
  <cp:revision>574</cp:revision>
  <dcterms:created xsi:type="dcterms:W3CDTF">2023-09-19T06:39:15Z</dcterms:created>
  <dcterms:modified xsi:type="dcterms:W3CDTF">2025-08-26T07:01:38Z</dcterms:modified>
</cp:coreProperties>
</file>