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54" r:id="rId3"/>
  </p:sldMasterIdLst>
  <p:notesMasterIdLst>
    <p:notesMasterId r:id="rId18"/>
  </p:notesMasterIdLst>
  <p:sldIdLst>
    <p:sldId id="11823956" r:id="rId4"/>
    <p:sldId id="11823965" r:id="rId5"/>
    <p:sldId id="11823967" r:id="rId6"/>
    <p:sldId id="11823968" r:id="rId7"/>
    <p:sldId id="11823970" r:id="rId8"/>
    <p:sldId id="11823971" r:id="rId9"/>
    <p:sldId id="11823972" r:id="rId10"/>
    <p:sldId id="11823973" r:id="rId11"/>
    <p:sldId id="11823969" r:id="rId12"/>
    <p:sldId id="11823975" r:id="rId13"/>
    <p:sldId id="11823974" r:id="rId14"/>
    <p:sldId id="11823976" r:id="rId15"/>
    <p:sldId id="11823977" r:id="rId16"/>
    <p:sldId id="1182396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6FF"/>
    <a:srgbClr val="6E20D2"/>
    <a:srgbClr val="16DBC8"/>
    <a:srgbClr val="E55E91"/>
    <a:srgbClr val="4540E2"/>
    <a:srgbClr val="AD9574"/>
    <a:srgbClr val="7575FF"/>
    <a:srgbClr val="30B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16"/>
    <p:restoredTop sz="94852"/>
  </p:normalViewPr>
  <p:slideViewPr>
    <p:cSldViewPr snapToGrid="0" snapToObjects="1">
      <p:cViewPr varScale="1">
        <p:scale>
          <a:sx n="63" d="100"/>
          <a:sy n="63" d="100"/>
        </p:scale>
        <p:origin x="9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3" d="100"/>
        <a:sy n="11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CE599-0E34-4745-A21F-76D152A2254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451E5-CA43-B945-B789-6DB030CAA92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33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rgbClr val="F3F6FF">
                  <a:alpha val="92000"/>
                </a:srgbClr>
              </a:gs>
              <a:gs pos="84000">
                <a:srgbClr val="F3F6FF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21"/>
          <p:cNvSpPr/>
          <p:nvPr userDrawn="1"/>
        </p:nvSpPr>
        <p:spPr>
          <a:xfrm>
            <a:off x="586938" y="3021355"/>
            <a:ext cx="10419729" cy="18000"/>
          </a:xfrm>
          <a:prstGeom prst="rect">
            <a:avLst/>
          </a:prstGeom>
          <a:solidFill>
            <a:srgbClr val="C0000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 hasCustomPrompt="1"/>
          </p:nvPr>
        </p:nvSpPr>
        <p:spPr>
          <a:xfrm>
            <a:off x="387350" y="2007207"/>
            <a:ext cx="11239499" cy="8509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5600"/>
            </a:lvl2pPr>
            <a:lvl3pPr>
              <a:defRPr sz="5600"/>
            </a:lvl3pPr>
            <a:lvl4pPr>
              <a:defRPr sz="5600"/>
            </a:lvl4pPr>
            <a:lvl5pPr>
              <a:defRPr sz="5600"/>
            </a:lvl5pPr>
          </a:lstStyle>
          <a:p>
            <a:pPr lvl="0"/>
            <a:r>
              <a:rPr kumimoji="1" lang="zh-CN" altLang="en-US" dirty="0"/>
              <a:t>单击此处输入标题</a:t>
            </a:r>
            <a:endParaRPr kumimoji="1"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87350" y="3182864"/>
            <a:ext cx="11239499" cy="58477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32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5600"/>
            </a:lvl2pPr>
            <a:lvl3pPr>
              <a:defRPr sz="5600"/>
            </a:lvl3pPr>
            <a:lvl4pPr>
              <a:defRPr sz="5600"/>
            </a:lvl4pPr>
            <a:lvl5pPr>
              <a:defRPr sz="5600"/>
            </a:lvl5pPr>
          </a:lstStyle>
          <a:p>
            <a:pPr lvl="0"/>
            <a:r>
              <a:rPr kumimoji="1" lang="zh-CN" altLang="en-US" dirty="0"/>
              <a:t>单击此处输入副标题</a:t>
            </a:r>
            <a:endParaRPr kumimoji="1" lang="zh-CN" altLang="en-US" dirty="0"/>
          </a:p>
        </p:txBody>
      </p:sp>
      <p:sp>
        <p:nvSpPr>
          <p:cNvPr id="18" name="Rectangle 16"/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本文档版权归软通动力信息技术（集团）股份有限公司所有，并保留所有权利。</a:t>
            </a:r>
            <a:endParaRPr kumimoji="1" lang="zh-CN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9341157" y="4654091"/>
            <a:ext cx="2209359" cy="663497"/>
            <a:chOff x="9554146" y="1349293"/>
            <a:chExt cx="2209359" cy="663497"/>
          </a:xfrm>
        </p:grpSpPr>
        <p:sp>
          <p:nvSpPr>
            <p:cNvPr id="12" name="圆角矩形 11"/>
            <p:cNvSpPr/>
            <p:nvPr userDrawn="1"/>
          </p:nvSpPr>
          <p:spPr>
            <a:xfrm>
              <a:off x="9554146" y="1349293"/>
              <a:ext cx="2209359" cy="663497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 userDrawn="1"/>
          </p:nvSpPr>
          <p:spPr>
            <a:xfrm>
              <a:off x="9645019" y="1466553"/>
              <a:ext cx="2004864" cy="182364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保密级别：</a:t>
              </a:r>
              <a:endParaRPr kumimoji="1"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 userDrawn="1"/>
          </p:nvSpPr>
          <p:spPr>
            <a:xfrm>
              <a:off x="9645019" y="1718342"/>
              <a:ext cx="2004864" cy="172233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信息所有者：</a:t>
              </a:r>
              <a:endPara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5151" y="463186"/>
            <a:ext cx="1784857" cy="368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33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rgbClr val="F3F6FF">
                  <a:alpha val="92000"/>
                </a:srgbClr>
              </a:gs>
              <a:gs pos="84000">
                <a:srgbClr val="F3F6FF">
                  <a:alpha val="7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893288" y="2838524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kumimoji="1" lang="zh-CN" altLang="en-US" sz="5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0" y="3630677"/>
            <a:ext cx="335280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kumimoji="1" lang="zh-CN" altLang="en-US" sz="4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16"/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本文档版权归软通动力信息技术（集团）股份有限公司所有，并保留所有权利。</a:t>
            </a:r>
            <a:endParaRPr kumimoji="1" lang="zh-CN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29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4091532" y="1476878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0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4091532" y="2798791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1" name="文本占位符 5"/>
          <p:cNvSpPr>
            <a:spLocks noGrp="1"/>
          </p:cNvSpPr>
          <p:nvPr>
            <p:ph type="body" sz="quarter" idx="12" hasCustomPrompt="1"/>
          </p:nvPr>
        </p:nvSpPr>
        <p:spPr>
          <a:xfrm>
            <a:off x="4091532" y="4120704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2" name="文本占位符 5"/>
          <p:cNvSpPr>
            <a:spLocks noGrp="1"/>
          </p:cNvSpPr>
          <p:nvPr>
            <p:ph type="body" sz="quarter" idx="13" hasCustomPrompt="1"/>
          </p:nvPr>
        </p:nvSpPr>
        <p:spPr>
          <a:xfrm>
            <a:off x="4091532" y="5442616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3" name="文本占位符 5"/>
          <p:cNvSpPr>
            <a:spLocks noGrp="1"/>
          </p:cNvSpPr>
          <p:nvPr>
            <p:ph type="body" sz="quarter" idx="14" hasCustomPrompt="1"/>
          </p:nvPr>
        </p:nvSpPr>
        <p:spPr>
          <a:xfrm>
            <a:off x="5248102" y="1332655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  <a:endParaRPr kumimoji="1" lang="en-US" altLang="zh-CN" dirty="0"/>
          </a:p>
        </p:txBody>
      </p:sp>
      <p:sp>
        <p:nvSpPr>
          <p:cNvPr id="34" name="文本占位符 5"/>
          <p:cNvSpPr>
            <a:spLocks noGrp="1"/>
          </p:cNvSpPr>
          <p:nvPr>
            <p:ph type="body" sz="quarter" idx="15" hasCustomPrompt="1"/>
          </p:nvPr>
        </p:nvSpPr>
        <p:spPr>
          <a:xfrm>
            <a:off x="5248102" y="2654568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  <a:endParaRPr kumimoji="1" lang="zh-CN" altLang="en-US" dirty="0"/>
          </a:p>
        </p:txBody>
      </p:sp>
      <p:sp>
        <p:nvSpPr>
          <p:cNvPr id="35" name="文本占位符 5"/>
          <p:cNvSpPr>
            <a:spLocks noGrp="1"/>
          </p:cNvSpPr>
          <p:nvPr>
            <p:ph type="body" sz="quarter" idx="16" hasCustomPrompt="1"/>
          </p:nvPr>
        </p:nvSpPr>
        <p:spPr>
          <a:xfrm>
            <a:off x="5248102" y="3976481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  <a:endParaRPr kumimoji="1" lang="zh-CN" altLang="en-US" dirty="0"/>
          </a:p>
        </p:txBody>
      </p:sp>
      <p:sp>
        <p:nvSpPr>
          <p:cNvPr id="36" name="文本占位符 5"/>
          <p:cNvSpPr>
            <a:spLocks noGrp="1"/>
          </p:cNvSpPr>
          <p:nvPr>
            <p:ph type="body" sz="quarter" idx="17" hasCustomPrompt="1"/>
          </p:nvPr>
        </p:nvSpPr>
        <p:spPr>
          <a:xfrm>
            <a:off x="5248102" y="5298393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  <a:endParaRPr kumimoji="1"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19" name="圆角矩形 18"/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5151" y="463186"/>
            <a:ext cx="1784857" cy="368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33"/>
          <p:cNvSpPr/>
          <p:nvPr userDrawn="1"/>
        </p:nvSpPr>
        <p:spPr>
          <a:xfrm>
            <a:off x="0" y="0"/>
            <a:ext cx="12192000" cy="6885543"/>
          </a:xfrm>
          <a:prstGeom prst="rect">
            <a:avLst/>
          </a:prstGeom>
          <a:gradFill flip="none" rotWithShape="1">
            <a:gsLst>
              <a:gs pos="37000">
                <a:srgbClr val="F3F6FF">
                  <a:alpha val="92000"/>
                </a:srgbClr>
              </a:gs>
              <a:gs pos="84000">
                <a:srgbClr val="F3F6FF">
                  <a:alpha val="4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2044874"/>
            <a:ext cx="12192000" cy="2439444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682170" y="3483026"/>
            <a:ext cx="2260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065221" y="2851413"/>
            <a:ext cx="877549" cy="631613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20" name="文本占位符 9"/>
          <p:cNvSpPr>
            <a:spLocks noGrp="1"/>
          </p:cNvSpPr>
          <p:nvPr>
            <p:ph type="body" sz="quarter" idx="11"/>
          </p:nvPr>
        </p:nvSpPr>
        <p:spPr>
          <a:xfrm>
            <a:off x="3213537" y="2851414"/>
            <a:ext cx="7922549" cy="64633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4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82171" y="2851413"/>
            <a:ext cx="1405641" cy="64633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endParaRPr kumimoji="1" lang="zh-CN" alt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6"/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本文档版权归软通动力信息技术（集团）股份有限公司所有，并保留所有权利。</a:t>
            </a:r>
            <a:endParaRPr kumimoji="1" lang="zh-CN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</a:fld>
            <a:endParaRPr kumimoji="1" lang="zh-CN" altLang="en-US" dirty="0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14" name="圆角矩形 13"/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5151" y="463186"/>
            <a:ext cx="1784857" cy="368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87350" y="385298"/>
            <a:ext cx="8748000" cy="557213"/>
          </a:xfrm>
          <a:prstGeom prst="rect">
            <a:avLst/>
          </a:prstGeom>
        </p:spPr>
        <p:txBody>
          <a:bodyPr lIns="0" rIns="0" anchor="ctr" anchorCtr="0"/>
          <a:lstStyle>
            <a:lvl1pPr>
              <a:lnSpc>
                <a:spcPct val="100000"/>
              </a:lnSpc>
              <a:defRPr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Rectangle 16"/>
          <p:cNvSpPr/>
          <p:nvPr userDrawn="1"/>
        </p:nvSpPr>
        <p:spPr>
          <a:xfrm>
            <a:off x="387350" y="6472702"/>
            <a:ext cx="4952472" cy="234753"/>
          </a:xfrm>
          <a:prstGeom prst="homePlate">
            <a:avLst/>
          </a:prstGeom>
          <a:solidFill>
            <a:schemeClr val="bg2">
              <a:lumMod val="9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本文档版权归软通动力信息技术（集团）股份有限公司所有，并保留所有权利。</a:t>
            </a:r>
            <a:endParaRPr kumimoji="1" lang="zh-CN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8"/>
          <p:cNvSpPr/>
          <p:nvPr userDrawn="1"/>
        </p:nvSpPr>
        <p:spPr>
          <a:xfrm>
            <a:off x="234065" y="430576"/>
            <a:ext cx="51407" cy="46665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 eaLnBrk="1" fontAlgn="auto" hangingPunct="1">
              <a:spcBef>
                <a:spcPts val="1000"/>
              </a:spcBef>
              <a:spcAft>
                <a:spcPts val="0"/>
              </a:spcAft>
              <a:defRPr/>
            </a:pPr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9" name="圆角矩形 8"/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43278" y="463186"/>
            <a:ext cx="1784857" cy="368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33"/>
          <p:cNvSpPr/>
          <p:nvPr userDrawn="1"/>
        </p:nvSpPr>
        <p:spPr>
          <a:xfrm>
            <a:off x="0" y="0"/>
            <a:ext cx="12192000" cy="6885543"/>
          </a:xfrm>
          <a:prstGeom prst="rect">
            <a:avLst/>
          </a:prstGeom>
          <a:gradFill flip="none" rotWithShape="1">
            <a:gsLst>
              <a:gs pos="37000">
                <a:srgbClr val="F3F6FF">
                  <a:alpha val="92000"/>
                </a:srgbClr>
              </a:gs>
              <a:gs pos="84000">
                <a:srgbClr val="F3F6FF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2894947" y="2635526"/>
            <a:ext cx="1586948" cy="1586948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4589568" y="2810947"/>
            <a:ext cx="4707486" cy="1236106"/>
            <a:chOff x="4589568" y="3637204"/>
            <a:chExt cx="4707486" cy="1236106"/>
          </a:xfrm>
        </p:grpSpPr>
        <p:sp>
          <p:nvSpPr>
            <p:cNvPr id="13" name="文本框 12"/>
            <p:cNvSpPr txBox="1"/>
            <p:nvPr/>
          </p:nvSpPr>
          <p:spPr>
            <a:xfrm>
              <a:off x="4589569" y="4124452"/>
              <a:ext cx="41531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北京市海淀区西北旺东路</a:t>
              </a:r>
              <a:r>
                <a:rPr kumimoji="1"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号院东区</a:t>
              </a:r>
              <a:r>
                <a:rPr kumimoji="1"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r>
                <a:rPr kumimoji="1"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号楼</a:t>
              </a:r>
              <a:endParaRPr kumimoji="1"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595738" y="3637204"/>
              <a:ext cx="470131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1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软通动力信息技术</a:t>
              </a:r>
              <a:r>
                <a:rPr kumimoji="1" lang="en-US" altLang="zh-CN" sz="21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21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集团</a:t>
              </a:r>
              <a:r>
                <a:rPr kumimoji="1" lang="en-US" altLang="zh-CN" sz="21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kumimoji="1" lang="zh-CN" altLang="en-US" sz="21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股份有限公司</a:t>
              </a:r>
              <a:endParaRPr kumimoji="1"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589568" y="4534756"/>
              <a:ext cx="21532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sz="16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www.isoftstone.com</a:t>
              </a:r>
              <a:endParaRPr kumimoji="1"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-1" y="-13252"/>
            <a:ext cx="12191999" cy="6871252"/>
          </a:xfrm>
          <a:prstGeom prst="rect">
            <a:avLst/>
          </a:prstGeom>
        </p:spPr>
      </p:pic>
      <p:sp>
        <p:nvSpPr>
          <p:cNvPr id="6" name="Rectangle 33"/>
          <p:cNvSpPr/>
          <p:nvPr userDrawn="1"/>
        </p:nvSpPr>
        <p:spPr>
          <a:xfrm>
            <a:off x="0" y="-13252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32000"/>
                </a:schemeClr>
              </a:gs>
              <a:gs pos="82000">
                <a:schemeClr val="tx1"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占位符 12"/>
          <p:cNvSpPr>
            <a:spLocks noGrp="1"/>
          </p:cNvSpPr>
          <p:nvPr>
            <p:ph type="body" sz="quarter" idx="10" hasCustomPrompt="1"/>
          </p:nvPr>
        </p:nvSpPr>
        <p:spPr>
          <a:xfrm>
            <a:off x="387350" y="2007207"/>
            <a:ext cx="11239499" cy="8509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5600"/>
            </a:lvl2pPr>
            <a:lvl3pPr>
              <a:defRPr sz="5600"/>
            </a:lvl3pPr>
            <a:lvl4pPr>
              <a:defRPr sz="5600"/>
            </a:lvl4pPr>
            <a:lvl5pPr>
              <a:defRPr sz="5600"/>
            </a:lvl5pPr>
          </a:lstStyle>
          <a:p>
            <a:pPr lvl="0"/>
            <a:r>
              <a:rPr kumimoji="1" lang="zh-CN" altLang="en-US" dirty="0"/>
              <a:t>单击此处输入标题</a:t>
            </a:r>
            <a:endParaRPr kumimoji="1" lang="zh-CN" altLang="en-US" dirty="0"/>
          </a:p>
        </p:txBody>
      </p:sp>
      <p:sp>
        <p:nvSpPr>
          <p:cNvPr id="27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87350" y="3182864"/>
            <a:ext cx="11239499" cy="5847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5600"/>
            </a:lvl2pPr>
            <a:lvl3pPr>
              <a:defRPr sz="5600"/>
            </a:lvl3pPr>
            <a:lvl4pPr>
              <a:defRPr sz="5600"/>
            </a:lvl4pPr>
            <a:lvl5pPr>
              <a:defRPr sz="5600"/>
            </a:lvl5pPr>
          </a:lstStyle>
          <a:p>
            <a:pPr lvl="0"/>
            <a:r>
              <a:rPr kumimoji="1" lang="zh-CN" altLang="en-US" dirty="0"/>
              <a:t>单击此处输入副标题</a:t>
            </a:r>
            <a:endParaRPr kumimoji="1" lang="zh-CN" altLang="en-US" dirty="0"/>
          </a:p>
        </p:txBody>
      </p:sp>
      <p:sp>
        <p:nvSpPr>
          <p:cNvPr id="12" name="Rectangle 16"/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本文档版权归软通动力信息技术（集团）股份有限公司所有，并保留所有权利。</a:t>
            </a:r>
            <a:endParaRPr kumimoji="1" lang="zh-CN" alt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341157" y="4654091"/>
            <a:ext cx="2209359" cy="663497"/>
            <a:chOff x="9554146" y="1349293"/>
            <a:chExt cx="2209359" cy="663497"/>
          </a:xfrm>
        </p:grpSpPr>
        <p:sp>
          <p:nvSpPr>
            <p:cNvPr id="10" name="圆角矩形 9"/>
            <p:cNvSpPr/>
            <p:nvPr userDrawn="1"/>
          </p:nvSpPr>
          <p:spPr>
            <a:xfrm>
              <a:off x="9554146" y="1349293"/>
              <a:ext cx="2209359" cy="663497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9645019" y="1466553"/>
              <a:ext cx="2004864" cy="182364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保密级别：</a:t>
              </a:r>
              <a:endPara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 userDrawn="1"/>
          </p:nvSpPr>
          <p:spPr>
            <a:xfrm>
              <a:off x="9645019" y="1718342"/>
              <a:ext cx="2004864" cy="172233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信息所有者：</a:t>
              </a:r>
              <a:endParaRPr kumimoji="1"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586938" y="475553"/>
            <a:ext cx="1870220" cy="3862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3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92000"/>
                </a:schemeClr>
              </a:gs>
              <a:gs pos="82000">
                <a:schemeClr val="tx1">
                  <a:alpha val="49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893288" y="2838524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kumimoji="1"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0" y="3630677"/>
            <a:ext cx="337537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kumimoji="1" lang="zh-CN" altLang="en-US" sz="4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4091532" y="1476878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29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4091532" y="2798791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0" name="文本占位符 5"/>
          <p:cNvSpPr>
            <a:spLocks noGrp="1"/>
          </p:cNvSpPr>
          <p:nvPr>
            <p:ph type="body" sz="quarter" idx="12" hasCustomPrompt="1"/>
          </p:nvPr>
        </p:nvSpPr>
        <p:spPr>
          <a:xfrm>
            <a:off x="4091532" y="4120704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1" name="文本占位符 5"/>
          <p:cNvSpPr>
            <a:spLocks noGrp="1"/>
          </p:cNvSpPr>
          <p:nvPr>
            <p:ph type="body" sz="quarter" idx="13" hasCustomPrompt="1"/>
          </p:nvPr>
        </p:nvSpPr>
        <p:spPr>
          <a:xfrm>
            <a:off x="4091532" y="5442616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2" name="文本占位符 5"/>
          <p:cNvSpPr>
            <a:spLocks noGrp="1"/>
          </p:cNvSpPr>
          <p:nvPr>
            <p:ph type="body" sz="quarter" idx="14" hasCustomPrompt="1"/>
          </p:nvPr>
        </p:nvSpPr>
        <p:spPr>
          <a:xfrm>
            <a:off x="5248102" y="1332655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  <a:endParaRPr kumimoji="1" lang="en-US" altLang="zh-CN" dirty="0"/>
          </a:p>
        </p:txBody>
      </p:sp>
      <p:sp>
        <p:nvSpPr>
          <p:cNvPr id="33" name="文本占位符 5"/>
          <p:cNvSpPr>
            <a:spLocks noGrp="1"/>
          </p:cNvSpPr>
          <p:nvPr>
            <p:ph type="body" sz="quarter" idx="15" hasCustomPrompt="1"/>
          </p:nvPr>
        </p:nvSpPr>
        <p:spPr>
          <a:xfrm>
            <a:off x="5248102" y="2654568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  <a:endParaRPr kumimoji="1" lang="zh-CN" altLang="en-US" dirty="0"/>
          </a:p>
        </p:txBody>
      </p:sp>
      <p:sp>
        <p:nvSpPr>
          <p:cNvPr id="34" name="文本占位符 5"/>
          <p:cNvSpPr>
            <a:spLocks noGrp="1"/>
          </p:cNvSpPr>
          <p:nvPr>
            <p:ph type="body" sz="quarter" idx="16" hasCustomPrompt="1"/>
          </p:nvPr>
        </p:nvSpPr>
        <p:spPr>
          <a:xfrm>
            <a:off x="5248102" y="3976481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  <a:endParaRPr kumimoji="1" lang="zh-CN" altLang="en-US" dirty="0"/>
          </a:p>
        </p:txBody>
      </p:sp>
      <p:sp>
        <p:nvSpPr>
          <p:cNvPr id="35" name="文本占位符 5"/>
          <p:cNvSpPr>
            <a:spLocks noGrp="1"/>
          </p:cNvSpPr>
          <p:nvPr>
            <p:ph type="body" sz="quarter" idx="17" hasCustomPrompt="1"/>
          </p:nvPr>
        </p:nvSpPr>
        <p:spPr>
          <a:xfrm>
            <a:off x="5248102" y="5298393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  <a:endParaRPr kumimoji="1" lang="zh-CN" altLang="en-US" dirty="0"/>
          </a:p>
        </p:txBody>
      </p:sp>
      <p:sp>
        <p:nvSpPr>
          <p:cNvPr id="37" name="Rectangle 16"/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本文档版权归软通动力信息技术（集团）股份有限公司所有，并保留所有权利。</a:t>
            </a:r>
            <a:endParaRPr kumimoji="1" lang="zh-CN" alt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</a:fld>
            <a:endParaRPr kumimoji="1" lang="zh-CN" altLang="en-US" dirty="0"/>
          </a:p>
        </p:txBody>
      </p:sp>
      <p:grpSp>
        <p:nvGrpSpPr>
          <p:cNvPr id="21" name="组合 20"/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22" name="圆角矩形 21"/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/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586938" y="475553"/>
            <a:ext cx="1870220" cy="3862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33"/>
          <p:cNvSpPr/>
          <p:nvPr userDrawn="1"/>
        </p:nvSpPr>
        <p:spPr>
          <a:xfrm>
            <a:off x="0" y="-13252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32000"/>
                </a:schemeClr>
              </a:gs>
              <a:gs pos="82000">
                <a:schemeClr val="tx1"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0" y="2044874"/>
            <a:ext cx="12192000" cy="2439444"/>
          </a:xfrm>
          <a:prstGeom prst="rect">
            <a:avLst/>
          </a:prstGeom>
          <a:solidFill>
            <a:schemeClr val="tx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82170" y="3483026"/>
            <a:ext cx="2260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065221" y="2851413"/>
            <a:ext cx="877549" cy="631613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7" name="文本占位符 9"/>
          <p:cNvSpPr>
            <a:spLocks noGrp="1"/>
          </p:cNvSpPr>
          <p:nvPr>
            <p:ph type="body" sz="quarter" idx="11"/>
          </p:nvPr>
        </p:nvSpPr>
        <p:spPr>
          <a:xfrm>
            <a:off x="3213537" y="2851414"/>
            <a:ext cx="7922549" cy="64633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682171" y="2851413"/>
            <a:ext cx="1405641" cy="64633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endParaRPr kumimoji="1"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16"/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本文档版权归软通动力信息技术（集团）股份有限公司所有，并保留所有权利。</a:t>
            </a:r>
            <a:endParaRPr kumimoji="1" lang="zh-CN" alt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</a:fld>
            <a:endParaRPr kumimoji="1" lang="zh-CN" altLang="en-US" dirty="0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14" name="圆角矩形 13"/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586938" y="475553"/>
            <a:ext cx="1870220" cy="3862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gradFill>
          <a:gsLst>
            <a:gs pos="0">
              <a:srgbClr val="002060">
                <a:alpha val="86000"/>
              </a:srgbClr>
            </a:gs>
            <a:gs pos="98000">
              <a:srgbClr val="00206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-3" y="-13252"/>
            <a:ext cx="12192001" cy="6871252"/>
          </a:xfrm>
          <a:prstGeom prst="rect">
            <a:avLst/>
          </a:prstGeom>
        </p:spPr>
      </p:pic>
      <p:sp>
        <p:nvSpPr>
          <p:cNvPr id="11" name="Rectangle 33"/>
          <p:cNvSpPr/>
          <p:nvPr userDrawn="1"/>
        </p:nvSpPr>
        <p:spPr>
          <a:xfrm>
            <a:off x="-3" y="-13252"/>
            <a:ext cx="12192000" cy="6871252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95000"/>
                </a:schemeClr>
              </a:gs>
              <a:gs pos="82000">
                <a:schemeClr val="tx1">
                  <a:alpha val="47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87350" y="385298"/>
            <a:ext cx="8748000" cy="557213"/>
          </a:xfrm>
          <a:prstGeom prst="rect">
            <a:avLst/>
          </a:prstGeom>
        </p:spPr>
        <p:txBody>
          <a:bodyPr lIns="0" rIns="0" anchor="ctr" anchorCtr="0"/>
          <a:lstStyle>
            <a:lvl1pPr>
              <a:lnSpc>
                <a:spcPct val="100000"/>
              </a:lnSpc>
              <a:defRPr sz="2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Rectangle 16"/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本文档版权归软通动力信息技术（集团）股份有限公司所有，并保留所有权利。</a:t>
            </a:r>
            <a:endParaRPr kumimoji="1" lang="zh-CN" alt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8"/>
          <p:cNvSpPr/>
          <p:nvPr userDrawn="1"/>
        </p:nvSpPr>
        <p:spPr>
          <a:xfrm>
            <a:off x="234065" y="430576"/>
            <a:ext cx="51407" cy="46665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 eaLnBrk="1" fontAlgn="auto" hangingPunct="1">
              <a:spcBef>
                <a:spcPts val="1000"/>
              </a:spcBef>
              <a:spcAft>
                <a:spcPts val="0"/>
              </a:spcAft>
              <a:defRPr/>
            </a:pPr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13" name="圆角矩形 12"/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10090638" y="422967"/>
            <a:ext cx="1844500" cy="3863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3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51000"/>
                </a:schemeClr>
              </a:gs>
              <a:gs pos="82000">
                <a:schemeClr val="tx1">
                  <a:alpha val="26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2894947" y="2635526"/>
            <a:ext cx="1586948" cy="1586948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4589568" y="2810947"/>
            <a:ext cx="4707486" cy="1236106"/>
            <a:chOff x="4589568" y="3637204"/>
            <a:chExt cx="4707486" cy="1236106"/>
          </a:xfrm>
        </p:grpSpPr>
        <p:sp>
          <p:nvSpPr>
            <p:cNvPr id="13" name="文本框 12"/>
            <p:cNvSpPr txBox="1"/>
            <p:nvPr/>
          </p:nvSpPr>
          <p:spPr>
            <a:xfrm>
              <a:off x="4589569" y="4124452"/>
              <a:ext cx="41531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北京市海淀区西北旺东路</a:t>
              </a:r>
              <a:r>
                <a:rPr kumimoji="1"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号院东区</a:t>
              </a:r>
              <a:r>
                <a:rPr kumimoji="1"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号楼</a:t>
              </a:r>
              <a:endPara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595738" y="3637204"/>
              <a:ext cx="470131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软通动力信息技术</a:t>
              </a:r>
              <a:r>
                <a:rPr kumimoji="1" lang="en-US" altLang="zh-CN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集团</a:t>
              </a:r>
              <a:r>
                <a:rPr kumimoji="1" lang="en-US" altLang="zh-CN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kumimoji="1"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股份有限公司</a:t>
              </a:r>
              <a:endParaRPr kumimoji="1" lang="zh-CN" altLang="en-US" sz="2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589568" y="4534756"/>
              <a:ext cx="21532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sz="16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www.isoftstone.com</a:t>
              </a:r>
              <a:endPara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PT" sz="2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33680" indent="-228600" algn="l" defTabSz="914400" rtl="0" eaLnBrk="1" latinLnBrk="0" hangingPunct="1">
        <a:lnSpc>
          <a:spcPts val="2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4155" algn="l" defTabSz="914400" rtl="0" eaLnBrk="1" latinLnBrk="0" hangingPunct="1">
        <a:lnSpc>
          <a:spcPts val="16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90880" indent="-23368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PT" sz="2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33680" indent="-228600" algn="l" defTabSz="914400" rtl="0" eaLnBrk="1" latinLnBrk="0" hangingPunct="1">
        <a:lnSpc>
          <a:spcPts val="2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4155" algn="l" defTabSz="914400" rtl="0" eaLnBrk="1" latinLnBrk="0" hangingPunct="1">
        <a:lnSpc>
          <a:spcPts val="16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90880" indent="-23368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东南大学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实训任务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01-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开始需求分析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5AA548-F88F-1644-9623-DEB29B1AF9E7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1.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RUP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与</a:t>
            </a:r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CMMI</a:t>
            </a:r>
            <a:endParaRPr lang="zh-CN" altLang="en-US" sz="2800" dirty="0">
              <a:solidFill>
                <a:srgbClr val="B5001F"/>
              </a:solidFill>
              <a:cs typeface="Arial" panose="020B0604020202020204" pitchFamily="34" charset="0"/>
            </a:endParaRPr>
          </a:p>
        </p:txBody>
      </p:sp>
      <p:cxnSp>
        <p:nvCxnSpPr>
          <p:cNvPr id="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703099" y="1779234"/>
            <a:ext cx="374637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初始阶段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703099" y="2797312"/>
            <a:ext cx="374637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细化阶段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703099" y="3815390"/>
            <a:ext cx="374637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构建阶段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703099" y="4833468"/>
            <a:ext cx="374637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移交阶段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80567" y="2382421"/>
            <a:ext cx="3672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为系统建立业务模型并确定项目的边界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80567" y="3380239"/>
            <a:ext cx="60960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分析问题的领域，建立完善的架构，淘汰项目中最高风险的元素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80567" y="4461602"/>
            <a:ext cx="75713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要开发所有剩余的构建和应用程序功能，把这些构建集成为产品，并进行详细测试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576287" y="5562457"/>
            <a:ext cx="34676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重点是确保软件对最终用户是可用的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03099" y="1169049"/>
            <a:ext cx="45799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Rational Unified Process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右大括号 15"/>
          <p:cNvSpPr/>
          <p:nvPr/>
        </p:nvSpPr>
        <p:spPr>
          <a:xfrm>
            <a:off x="9854215" y="1779235"/>
            <a:ext cx="443882" cy="4121776"/>
          </a:xfrm>
          <a:prstGeom prst="rightBrace">
            <a:avLst>
              <a:gd name="adj1" fmla="val 55476"/>
              <a:gd name="adj2" fmla="val 47846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510530" y="348796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过程改进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347825" y="5731734"/>
            <a:ext cx="17411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CMMI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24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/>
          <p:cNvCxnSpPr>
            <a:stCxn id="18" idx="0"/>
            <a:endCxn id="17" idx="2"/>
          </p:cNvCxnSpPr>
          <p:nvPr/>
        </p:nvCxnSpPr>
        <p:spPr>
          <a:xfrm flipV="1">
            <a:off x="11218416" y="3949625"/>
            <a:ext cx="0" cy="1782109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4222702" y="6282161"/>
            <a:ext cx="79692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Capability Maturity Model Integration For Software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，软件能力成熟度模型集成</a:t>
            </a:r>
            <a:endParaRPr lang="zh-CN" altLang="en-US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586631" y="1865337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586631" y="2924821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586631" y="3941532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37091" y="4981251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2.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怎么做需求分析？</a:t>
            </a:r>
            <a:endParaRPr lang="zh-CN" altLang="en-US" sz="2800" dirty="0">
              <a:solidFill>
                <a:srgbClr val="B5001F"/>
              </a:solidFill>
              <a:cs typeface="Arial" panose="020B0604020202020204" pitchFamily="34" charset="0"/>
            </a:endParaRPr>
          </a:p>
        </p:txBody>
      </p:sp>
      <p:cxnSp>
        <p:nvCxnSpPr>
          <p:cNvPr id="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951674" y="1346603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文档驱动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674" y="2172665"/>
            <a:ext cx="2876550" cy="3819525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4052579" y="2492821"/>
            <a:ext cx="355417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统一专业术语与某些词汇的定义；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052579" y="3070187"/>
            <a:ext cx="13131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需求说明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052579" y="3796571"/>
            <a:ext cx="13131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 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052579" y="4543214"/>
            <a:ext cx="12971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功能范围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052579" y="5289857"/>
            <a:ext cx="19127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环境与使用用户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7492753" y="1700359"/>
            <a:ext cx="0" cy="4530977"/>
          </a:xfrm>
          <a:prstGeom prst="line">
            <a:avLst/>
          </a:prstGeom>
          <a:ln w="28575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9395818" y="1346603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文档协作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9253776" y="2492821"/>
            <a:ext cx="16466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组长创建文档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151184" y="3188101"/>
            <a:ext cx="18517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组长添加协作者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253776" y="3892740"/>
            <a:ext cx="16466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组长分配任务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945999" y="4693534"/>
            <a:ext cx="22621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组员作为协作者工作</a:t>
            </a:r>
            <a:endParaRPr lang="zh-CN" altLang="en-US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箭头连接符 39"/>
          <p:cNvCxnSpPr>
            <a:stCxn id="36" idx="2"/>
            <a:endCxn id="37" idx="0"/>
          </p:cNvCxnSpPr>
          <p:nvPr/>
        </p:nvCxnSpPr>
        <p:spPr>
          <a:xfrm>
            <a:off x="10077079" y="2831375"/>
            <a:ext cx="0" cy="35672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37" idx="2"/>
            <a:endCxn id="38" idx="0"/>
          </p:cNvCxnSpPr>
          <p:nvPr/>
        </p:nvCxnSpPr>
        <p:spPr>
          <a:xfrm>
            <a:off x="10077079" y="3526655"/>
            <a:ext cx="0" cy="3660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38" idx="2"/>
            <a:endCxn id="39" idx="0"/>
          </p:cNvCxnSpPr>
          <p:nvPr/>
        </p:nvCxnSpPr>
        <p:spPr>
          <a:xfrm flipH="1">
            <a:off x="10077078" y="4231294"/>
            <a:ext cx="1" cy="46224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10173259" y="4231294"/>
            <a:ext cx="145424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顺便填写任务分配表</a:t>
            </a:r>
            <a:endParaRPr lang="zh-CN" altLang="en-US" sz="1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173258" y="5624570"/>
            <a:ext cx="201850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完成后顺便填写任务完成情况</a:t>
            </a:r>
            <a:endParaRPr lang="zh-CN" altLang="en-US" sz="1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9375604" y="5937357"/>
            <a:ext cx="159530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不再每天提交工作日报</a:t>
            </a:r>
            <a:endParaRPr lang="zh-CN" altLang="en-US" sz="11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37531" y="3101466"/>
            <a:ext cx="11769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早例会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15-30min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709051" y="5170600"/>
            <a:ext cx="8338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晚例会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15min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左大括号 47"/>
          <p:cNvSpPr/>
          <p:nvPr/>
        </p:nvSpPr>
        <p:spPr>
          <a:xfrm>
            <a:off x="8532652" y="2565647"/>
            <a:ext cx="282874" cy="1569477"/>
          </a:xfrm>
          <a:prstGeom prst="leftBrace">
            <a:avLst>
              <a:gd name="adj1" fmla="val 36578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9048591" y="5289857"/>
            <a:ext cx="205697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总结当天小组工作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" name="直接箭头连接符 49"/>
          <p:cNvCxnSpPr>
            <a:stCxn id="47" idx="3"/>
            <a:endCxn id="49" idx="1"/>
          </p:cNvCxnSpPr>
          <p:nvPr/>
        </p:nvCxnSpPr>
        <p:spPr>
          <a:xfrm flipV="1">
            <a:off x="8542934" y="5459134"/>
            <a:ext cx="505657" cy="3854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7726685" y="4462414"/>
            <a:ext cx="798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7hour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接箭头连接符 51"/>
          <p:cNvCxnSpPr>
            <a:stCxn id="39" idx="2"/>
            <a:endCxn id="49" idx="0"/>
          </p:cNvCxnSpPr>
          <p:nvPr/>
        </p:nvCxnSpPr>
        <p:spPr>
          <a:xfrm>
            <a:off x="10077078" y="5032088"/>
            <a:ext cx="0" cy="2577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3.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需求怎么说明？</a:t>
            </a:r>
            <a:endParaRPr lang="zh-CN" altLang="en-US" sz="2800" dirty="0">
              <a:solidFill>
                <a:srgbClr val="B5001F"/>
              </a:solidFill>
              <a:cs typeface="Arial" panose="020B0604020202020204" pitchFamily="34" charset="0"/>
            </a:endParaRPr>
          </a:p>
        </p:txBody>
      </p:sp>
      <p:cxnSp>
        <p:nvCxnSpPr>
          <p:cNvPr id="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53" name="图片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827" y="2537718"/>
            <a:ext cx="7113681" cy="1602473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8170470" y="2001222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操作主体</a:t>
            </a:r>
            <a:endParaRPr lang="zh-CN" altLang="en-US" dirty="0"/>
          </a:p>
        </p:txBody>
      </p:sp>
      <p:sp>
        <p:nvSpPr>
          <p:cNvPr id="55" name="文本框 54"/>
          <p:cNvSpPr txBox="1"/>
          <p:nvPr/>
        </p:nvSpPr>
        <p:spPr>
          <a:xfrm>
            <a:off x="8170470" y="285509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操作条件</a:t>
            </a:r>
            <a:endParaRPr lang="zh-CN" altLang="en-US" dirty="0"/>
          </a:p>
        </p:txBody>
      </p:sp>
      <p:sp>
        <p:nvSpPr>
          <p:cNvPr id="56" name="文本框 55"/>
          <p:cNvSpPr txBox="1"/>
          <p:nvPr/>
        </p:nvSpPr>
        <p:spPr>
          <a:xfrm>
            <a:off x="8170470" y="4513879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操作结果</a:t>
            </a:r>
            <a:endParaRPr lang="zh-CN" altLang="en-US" dirty="0"/>
          </a:p>
        </p:txBody>
      </p:sp>
      <p:cxnSp>
        <p:nvCxnSpPr>
          <p:cNvPr id="57" name="直接箭头连接符 56"/>
          <p:cNvCxnSpPr>
            <a:stCxn id="54" idx="2"/>
            <a:endCxn id="55" idx="0"/>
          </p:cNvCxnSpPr>
          <p:nvPr/>
        </p:nvCxnSpPr>
        <p:spPr>
          <a:xfrm>
            <a:off x="8673172" y="2339776"/>
            <a:ext cx="0" cy="515321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59" idx="2"/>
            <a:endCxn id="56" idx="0"/>
          </p:cNvCxnSpPr>
          <p:nvPr/>
        </p:nvCxnSpPr>
        <p:spPr>
          <a:xfrm>
            <a:off x="8673172" y="4016384"/>
            <a:ext cx="0" cy="497495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8170470" y="3677830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操作过程</a:t>
            </a:r>
            <a:endParaRPr lang="zh-CN" altLang="en-US" dirty="0"/>
          </a:p>
        </p:txBody>
      </p:sp>
      <p:cxnSp>
        <p:nvCxnSpPr>
          <p:cNvPr id="60" name="直接箭头连接符 59"/>
          <p:cNvCxnSpPr>
            <a:stCxn id="55" idx="2"/>
            <a:endCxn id="59" idx="0"/>
          </p:cNvCxnSpPr>
          <p:nvPr/>
        </p:nvCxnSpPr>
        <p:spPr>
          <a:xfrm>
            <a:off x="8673172" y="3193651"/>
            <a:ext cx="0" cy="484179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3416965" y="4140211"/>
            <a:ext cx="1469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操作过程描述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4.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用例抽取</a:t>
            </a:r>
            <a:endParaRPr lang="zh-CN" altLang="en-US" sz="2800" dirty="0">
              <a:solidFill>
                <a:srgbClr val="B5001F"/>
              </a:solidFill>
              <a:cs typeface="Arial" panose="020B0604020202020204" pitchFamily="34" charset="0"/>
            </a:endParaRPr>
          </a:p>
        </p:txBody>
      </p:sp>
      <p:cxnSp>
        <p:nvCxnSpPr>
          <p:cNvPr id="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985423" y="3304979"/>
            <a:ext cx="914400" cy="9144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394228" y="2190091"/>
            <a:ext cx="646331" cy="646331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3394229" y="4687936"/>
            <a:ext cx="646331" cy="646331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394230" y="3469345"/>
            <a:ext cx="646331" cy="646331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2513" y="3623233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参与者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4040559" y="2343979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独立的功能操作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4040559" y="3623233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独立的功能操作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4040558" y="4841824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独立的功能操作</a:t>
            </a:r>
            <a:endParaRPr lang="zh-CN" altLang="en-US" dirty="0"/>
          </a:p>
        </p:txBody>
      </p:sp>
      <p:sp>
        <p:nvSpPr>
          <p:cNvPr id="15" name="矩形: 圆角 14"/>
          <p:cNvSpPr/>
          <p:nvPr/>
        </p:nvSpPr>
        <p:spPr>
          <a:xfrm>
            <a:off x="2627790" y="1815750"/>
            <a:ext cx="3648722" cy="4003829"/>
          </a:xfrm>
          <a:prstGeom prst="roundRect">
            <a:avLst>
              <a:gd name="adj" fmla="val 4258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828974" y="1649309"/>
            <a:ext cx="180049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b="1" dirty="0">
                <a:solidFill>
                  <a:srgbClr val="FF0000"/>
                </a:solidFill>
              </a:rPr>
              <a:t>独立的业务模块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cxnSp>
        <p:nvCxnSpPr>
          <p:cNvPr id="17" name="直接箭头连接符 16"/>
          <p:cNvCxnSpPr>
            <a:stCxn id="7" idx="6"/>
            <a:endCxn id="8" idx="2"/>
          </p:cNvCxnSpPr>
          <p:nvPr/>
        </p:nvCxnSpPr>
        <p:spPr>
          <a:xfrm flipV="1">
            <a:off x="1899823" y="2513257"/>
            <a:ext cx="1494405" cy="124892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7" idx="6"/>
            <a:endCxn id="10" idx="2"/>
          </p:cNvCxnSpPr>
          <p:nvPr/>
        </p:nvCxnSpPr>
        <p:spPr>
          <a:xfrm>
            <a:off x="1899823" y="3762179"/>
            <a:ext cx="1494407" cy="3033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7" idx="6"/>
            <a:endCxn id="9" idx="2"/>
          </p:cNvCxnSpPr>
          <p:nvPr/>
        </p:nvCxnSpPr>
        <p:spPr>
          <a:xfrm>
            <a:off x="1899823" y="3762179"/>
            <a:ext cx="1494406" cy="124892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511946" y="4280041"/>
            <a:ext cx="23407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谁会来使用这个系统？</a:t>
            </a:r>
            <a:b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谁会来安装这个系统？</a:t>
            </a:r>
            <a:b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谁会来启动这个系统？</a:t>
            </a:r>
            <a:b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谁会来维护这个系统？</a:t>
            </a:r>
            <a:b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谁会来关闭这个系统？</a:t>
            </a:r>
            <a:b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哪些系统会来使用这个系统？</a:t>
            </a:r>
            <a:b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谁会从这个系统获取信息？</a:t>
            </a:r>
            <a:b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谁会给这个系统提供信息？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040003" y="2703180"/>
            <a:ext cx="20313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来自需求描述的整理与分析</a:t>
            </a: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064675" y="3983622"/>
            <a:ext cx="20313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来自需求描述的整理与分析</a:t>
            </a: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065699" y="5195766"/>
            <a:ext cx="20313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来自需求描述的整理与分析</a:t>
            </a: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205669" y="5939775"/>
            <a:ext cx="28007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对统一目标的操作进行分类整理与分析</a:t>
            </a:r>
            <a:endParaRPr lang="zh-CN" altLang="en-US" sz="1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7182035" y="1527022"/>
            <a:ext cx="0" cy="4530977"/>
          </a:xfrm>
          <a:prstGeom prst="line">
            <a:avLst/>
          </a:prstGeom>
          <a:ln w="28575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/>
          <p:cNvSpPr/>
          <p:nvPr/>
        </p:nvSpPr>
        <p:spPr>
          <a:xfrm>
            <a:off x="7739849" y="1815750"/>
            <a:ext cx="2251002" cy="4003829"/>
          </a:xfrm>
          <a:prstGeom prst="roundRect">
            <a:avLst>
              <a:gd name="adj" fmla="val 4258"/>
            </a:avLst>
          </a:prstGeom>
          <a:noFill/>
          <a:ln w="952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8344525" y="1647370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b="1" dirty="0">
                <a:solidFill>
                  <a:srgbClr val="FF0000"/>
                </a:solidFill>
              </a:rPr>
              <a:t>代码文件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10446054" y="2336300"/>
            <a:ext cx="346233" cy="346233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>
            <a:stCxn id="29" idx="2"/>
          </p:cNvCxnSpPr>
          <p:nvPr/>
        </p:nvCxnSpPr>
        <p:spPr>
          <a:xfrm flipH="1">
            <a:off x="9564212" y="2509417"/>
            <a:ext cx="881842" cy="38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10425343" y="3623233"/>
            <a:ext cx="346233" cy="346233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>
            <a:stCxn id="31" idx="2"/>
          </p:cNvCxnSpPr>
          <p:nvPr/>
        </p:nvCxnSpPr>
        <p:spPr>
          <a:xfrm flipH="1">
            <a:off x="9543501" y="3796350"/>
            <a:ext cx="881842" cy="38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10446052" y="4906326"/>
            <a:ext cx="346233" cy="346233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/>
          <p:cNvCxnSpPr>
            <a:stCxn id="33" idx="2"/>
          </p:cNvCxnSpPr>
          <p:nvPr/>
        </p:nvCxnSpPr>
        <p:spPr>
          <a:xfrm flipH="1">
            <a:off x="9564210" y="5079443"/>
            <a:ext cx="881842" cy="38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10425343" y="2757019"/>
            <a:ext cx="12618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操作的入口函数</a:t>
            </a: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0446052" y="4060615"/>
            <a:ext cx="12618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操作的入口函数</a:t>
            </a: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0460848" y="5372794"/>
            <a:ext cx="12618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操作的入口函数</a:t>
            </a: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938294" y="5958386"/>
            <a:ext cx="20313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项目工程代码按照用例组织</a:t>
            </a:r>
            <a:endParaRPr lang="zh-CN" altLang="en-US" sz="1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5.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用例分析</a:t>
            </a:r>
            <a:endParaRPr lang="zh-CN" altLang="en-US" sz="2800" dirty="0">
              <a:solidFill>
                <a:srgbClr val="B5001F"/>
              </a:solidFill>
              <a:cs typeface="Arial" panose="020B0604020202020204" pitchFamily="34" charset="0"/>
            </a:endParaRPr>
          </a:p>
        </p:txBody>
      </p:sp>
      <p:cxnSp>
        <p:nvCxnSpPr>
          <p:cNvPr id="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" name="图片 6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20831" y="2656134"/>
            <a:ext cx="2425545" cy="2945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2099003" y="1679413"/>
            <a:ext cx="12843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用例图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501298" y="1679413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用例描述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5362670" y="2438044"/>
          <a:ext cx="6165911" cy="33818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4323"/>
                <a:gridCol w="5081588"/>
              </a:tblGrid>
              <a:tr h="27235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b="0" kern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zh-CN" sz="1200" b="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kern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en-US" sz="1400" kern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012</a:t>
                      </a:r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235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 b="0" kern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用例名称</a:t>
                      </a:r>
                      <a:endParaRPr lang="zh-CN" sz="1200" b="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235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 b="0" kern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父用例</a:t>
                      </a:r>
                      <a:r>
                        <a:rPr lang="en-US" sz="1200" b="0" kern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zh-CN" sz="1200" b="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235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 b="0" kern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主要执行者</a:t>
                      </a:r>
                      <a:endParaRPr lang="zh-CN" sz="1200" b="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235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 b="0" kern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前置条件</a:t>
                      </a:r>
                      <a:endParaRPr lang="zh-CN" sz="1200" b="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681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 b="0" kern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事件流</a:t>
                      </a:r>
                      <a:endParaRPr lang="zh-CN" sz="1200" b="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235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 b="0" kern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可选事件流</a:t>
                      </a:r>
                      <a:endParaRPr lang="zh-CN" sz="1200" b="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235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 b="0" kern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异常事件流</a:t>
                      </a:r>
                      <a:endParaRPr lang="zh-CN" sz="1200" b="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235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 b="0" kern="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后置条件</a:t>
                      </a:r>
                      <a:endParaRPr lang="zh-CN" sz="1200" b="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9127942" y="1802523"/>
            <a:ext cx="15696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用例描述的基本要素</a:t>
            </a: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177691" y="6039922"/>
            <a:ext cx="28007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根据需要最后可以添加一个：特殊需求</a:t>
            </a: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6.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需求其他要素</a:t>
            </a:r>
            <a:endParaRPr lang="zh-CN" altLang="en-US" sz="2800" dirty="0">
              <a:solidFill>
                <a:srgbClr val="B5001F"/>
              </a:solidFill>
              <a:cs typeface="Arial" panose="020B0604020202020204" pitchFamily="34" charset="0"/>
            </a:endParaRPr>
          </a:p>
        </p:txBody>
      </p:sp>
      <p:cxnSp>
        <p:nvCxnSpPr>
          <p:cNvPr id="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962704" y="2090485"/>
            <a:ext cx="20329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专业术语定义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62704" y="2789043"/>
            <a:ext cx="15199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界面风格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62704" y="3490404"/>
            <a:ext cx="15199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功能范围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962704" y="4177290"/>
            <a:ext cx="15199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性能指标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684312" y="2090485"/>
            <a:ext cx="15199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网络结构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684312" y="2789043"/>
            <a:ext cx="15199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部署环境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684312" y="3442603"/>
            <a:ext cx="15199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运行环境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84312" y="4205916"/>
            <a:ext cx="28023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其他特殊的说明描述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任务与要求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latin typeface="Arial" panose="020B0604020202020204" pitchFamily="34" charset="0"/>
                <a:ea typeface="Lato Black" charset="0"/>
                <a:cs typeface="Arial" panose="020B0604020202020204" pitchFamily="34" charset="0"/>
              </a:rPr>
              <a:t>1.</a:t>
            </a:r>
            <a:r>
              <a:rPr lang="zh-CN" altLang="en-US" sz="2800" dirty="0">
                <a:solidFill>
                  <a:srgbClr val="B5001F"/>
                </a:solidFill>
                <a:latin typeface="Arial" panose="020B0604020202020204" pitchFamily="34" charset="0"/>
                <a:ea typeface="Lato Black" charset="0"/>
                <a:cs typeface="Arial" panose="020B0604020202020204" pitchFamily="34" charset="0"/>
              </a:rPr>
              <a:t> 任务</a:t>
            </a:r>
            <a:endParaRPr lang="zh-CN" altLang="en-US" sz="2800" dirty="0">
              <a:solidFill>
                <a:srgbClr val="B5001F"/>
              </a:solidFill>
              <a:latin typeface="Arial" panose="020B0604020202020204" pitchFamily="34" charset="0"/>
              <a:ea typeface="Lato Black" charset="0"/>
              <a:cs typeface="Arial" panose="020B0604020202020204" pitchFamily="34" charset="0"/>
            </a:endParaRPr>
          </a:p>
        </p:txBody>
      </p:sp>
      <p:cxnSp>
        <p:nvCxnSpPr>
          <p:cNvPr id="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865714" y="2603377"/>
            <a:ext cx="3746377" cy="5415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整理项目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76989" y="3429000"/>
            <a:ext cx="27238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完成所有需求说明的描述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38653" y="4051114"/>
            <a:ext cx="18004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完成用例图绘制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38899" y="4442921"/>
            <a:ext cx="32358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推荐一款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UML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绘制在线工具：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https://www.processon.com/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latin typeface="Arial" panose="020B0604020202020204" pitchFamily="34" charset="0"/>
                <a:ea typeface="Lato Black" charset="0"/>
                <a:cs typeface="Arial" panose="020B0604020202020204" pitchFamily="34" charset="0"/>
              </a:rPr>
              <a:t>2.</a:t>
            </a:r>
            <a:r>
              <a:rPr lang="zh-CN" altLang="en-US" sz="2800" dirty="0">
                <a:solidFill>
                  <a:srgbClr val="B5001F"/>
                </a:solidFill>
                <a:latin typeface="Arial" panose="020B0604020202020204" pitchFamily="34" charset="0"/>
                <a:ea typeface="Lato Black" charset="0"/>
                <a:cs typeface="Arial" panose="020B0604020202020204" pitchFamily="34" charset="0"/>
              </a:rPr>
              <a:t> 内容</a:t>
            </a:r>
            <a:endParaRPr lang="zh-CN" altLang="en-US" sz="2800" dirty="0">
              <a:solidFill>
                <a:srgbClr val="B5001F"/>
              </a:solidFill>
              <a:latin typeface="Arial" panose="020B0604020202020204" pitchFamily="34" charset="0"/>
              <a:ea typeface="Lato Black" charset="0"/>
              <a:cs typeface="Arial" panose="020B0604020202020204" pitchFamily="34" charset="0"/>
            </a:endParaRPr>
          </a:p>
        </p:txBody>
      </p:sp>
      <p:cxnSp>
        <p:nvCxnSpPr>
          <p:cNvPr id="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115961" y="1766628"/>
            <a:ext cx="7800513" cy="1448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整理一份原始的需求说明，作为开发需求的原始依据；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根据需求说明，完成需求初始分析，实现用例抽取与绘制用例图；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使用互联网工具的团队协作办法；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428771" y="3671090"/>
            <a:ext cx="5750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这次实训统一使用：石墨云文档实现工程分析与设计文档协作。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3.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要求</a:t>
            </a:r>
            <a:endParaRPr lang="zh-CN" altLang="en-US" sz="2800" dirty="0">
              <a:solidFill>
                <a:srgbClr val="B5001F"/>
              </a:solidFill>
              <a:cs typeface="Arial" panose="020B0604020202020204" pitchFamily="34" charset="0"/>
            </a:endParaRPr>
          </a:p>
        </p:txBody>
      </p:sp>
      <p:cxnSp>
        <p:nvCxnSpPr>
          <p:cNvPr id="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932329" y="1574415"/>
            <a:ext cx="6096000" cy="1936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完成需求分析文档框架；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按照需求说明文档规范完成业务需求说明；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完成用例图与部分用例描述；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文档协作团队的搭建与测试；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4.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提交物</a:t>
            </a:r>
            <a:endParaRPr lang="zh-CN" altLang="en-US" sz="2800" dirty="0">
              <a:solidFill>
                <a:srgbClr val="B5001F"/>
              </a:solidFill>
              <a:cs typeface="Arial" panose="020B0604020202020204" pitchFamily="34" charset="0"/>
            </a:endParaRPr>
          </a:p>
        </p:txBody>
      </p:sp>
      <p:cxnSp>
        <p:nvCxnSpPr>
          <p:cNvPr id="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673020" y="1158387"/>
            <a:ext cx="5038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需求分析文档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（业务功能说明与用例分析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020" y="1666520"/>
            <a:ext cx="9517460" cy="509545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096000" y="4008892"/>
            <a:ext cx="4062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记得把我加为协作者：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13338629985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附录：</a:t>
            </a:r>
            <a:endParaRPr lang="zh-CN" altLang="en-US" sz="2800" dirty="0">
              <a:solidFill>
                <a:srgbClr val="B5001F"/>
              </a:solidFill>
              <a:cs typeface="Arial" panose="020B0604020202020204" pitchFamily="34" charset="0"/>
            </a:endParaRPr>
          </a:p>
        </p:txBody>
      </p:sp>
      <p:cxnSp>
        <p:nvCxnSpPr>
          <p:cNvPr id="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373387" y="1679413"/>
            <a:ext cx="1596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00390" y="1725579"/>
            <a:ext cx="32367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请再翻翻大学学习的课程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软件工程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81030" y="2515120"/>
            <a:ext cx="1117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 RUP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381030" y="3228945"/>
            <a:ext cx="13596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 CMMI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81030" y="3961058"/>
            <a:ext cx="11753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 UML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81030" y="4778477"/>
            <a:ext cx="26228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用例与用例的关系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417470" y="2580541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请百度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417469" y="3281614"/>
            <a:ext cx="19976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请浏览我们提供的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400390" y="3980045"/>
            <a:ext cx="39549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请百度，或者京东书店下单买一本书系统看看。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328780" y="4809255"/>
            <a:ext cx="556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https://blog.csdn.net/nodeman/article/details/81200415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Content Layouts">
  <a:themeElements>
    <a:clrScheme name="New-CG">
      <a:dk1>
        <a:srgbClr val="000000"/>
      </a:dk1>
      <a:lt1>
        <a:sysClr val="window" lastClr="FFFFFF"/>
      </a:lt1>
      <a:dk2>
        <a:srgbClr val="0070AD"/>
      </a:dk2>
      <a:lt2>
        <a:srgbClr val="EDEDED"/>
      </a:lt2>
      <a:accent1>
        <a:srgbClr val="0070AD"/>
      </a:accent1>
      <a:accent2>
        <a:srgbClr val="12ABDB"/>
      </a:accent2>
      <a:accent3>
        <a:srgbClr val="2B0A3D"/>
      </a:accent3>
      <a:accent4>
        <a:srgbClr val="FF304C"/>
      </a:accent4>
      <a:accent5>
        <a:srgbClr val="95E616"/>
      </a:accent5>
      <a:accent6>
        <a:srgbClr val="C2CF00"/>
      </a:accent6>
      <a:hlink>
        <a:srgbClr val="005481"/>
      </a:hlink>
      <a:folHlink>
        <a:srgbClr val="861763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ontent Layouts">
  <a:themeElements>
    <a:clrScheme name="New-CG">
      <a:dk1>
        <a:srgbClr val="000000"/>
      </a:dk1>
      <a:lt1>
        <a:sysClr val="window" lastClr="FFFFFF"/>
      </a:lt1>
      <a:dk2>
        <a:srgbClr val="0070AD"/>
      </a:dk2>
      <a:lt2>
        <a:srgbClr val="EDEDED"/>
      </a:lt2>
      <a:accent1>
        <a:srgbClr val="0070AD"/>
      </a:accent1>
      <a:accent2>
        <a:srgbClr val="12ABDB"/>
      </a:accent2>
      <a:accent3>
        <a:srgbClr val="2B0A3D"/>
      </a:accent3>
      <a:accent4>
        <a:srgbClr val="FF304C"/>
      </a:accent4>
      <a:accent5>
        <a:srgbClr val="95E616"/>
      </a:accent5>
      <a:accent6>
        <a:srgbClr val="C2CF00"/>
      </a:accent6>
      <a:hlink>
        <a:srgbClr val="005481"/>
      </a:hlink>
      <a:folHlink>
        <a:srgbClr val="861763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1317</Words>
  <Application>WPS 演示</Application>
  <PresentationFormat>宽屏</PresentationFormat>
  <Paragraphs>229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Verdana</vt:lpstr>
      <vt:lpstr>微软雅黑</vt:lpstr>
      <vt:lpstr>Hiragino Sans W6</vt:lpstr>
      <vt:lpstr>Yu Gothic UI Semilight</vt:lpstr>
      <vt:lpstr>Times New Roman</vt:lpstr>
      <vt:lpstr>Lato Black</vt:lpstr>
      <vt:lpstr>Segoe Print</vt:lpstr>
      <vt:lpstr>Arial Unicode MS</vt:lpstr>
      <vt:lpstr>等线</vt:lpstr>
      <vt:lpstr>Content Layouts</vt:lpstr>
      <vt:lpstr>1_Content Layouts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zyc19890708@126.com</dc:creator>
  <cp:lastModifiedBy>WPS_1693184031</cp:lastModifiedBy>
  <cp:revision>544</cp:revision>
  <dcterms:created xsi:type="dcterms:W3CDTF">2023-09-19T06:39:00Z</dcterms:created>
  <dcterms:modified xsi:type="dcterms:W3CDTF">2025-12-28T15:11:49Z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9D186C19F9914C3BBFCDF44380CCAA4C_13</vt:lpwstr>
  </property>
  <property fmtid="{D5CDD505-2E9C-101B-9397-08002B2CF9AE}" pid="3" name="KSOProductBuildVer">
    <vt:lpwstr>2052-12.1.0.24034</vt:lpwstr>
  </property>
</Properties>
</file>